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2" r:id="rId4"/>
  </p:sldMasterIdLst>
  <p:sldIdLst>
    <p:sldId id="256" r:id="rId5"/>
    <p:sldId id="257" r:id="rId6"/>
    <p:sldId id="270" r:id="rId7"/>
    <p:sldId id="271" r:id="rId8"/>
    <p:sldId id="272" r:id="rId9"/>
    <p:sldId id="273" r:id="rId10"/>
    <p:sldId id="287" r:id="rId11"/>
    <p:sldId id="288" r:id="rId12"/>
    <p:sldId id="274" r:id="rId13"/>
    <p:sldId id="275" r:id="rId14"/>
    <p:sldId id="276" r:id="rId15"/>
    <p:sldId id="277" r:id="rId16"/>
    <p:sldId id="278" r:id="rId17"/>
    <p:sldId id="267" r:id="rId18"/>
    <p:sldId id="269" r:id="rId19"/>
    <p:sldId id="279" r:id="rId20"/>
    <p:sldId id="280" r:id="rId21"/>
    <p:sldId id="281" r:id="rId22"/>
    <p:sldId id="282" r:id="rId23"/>
    <p:sldId id="283" r:id="rId24"/>
    <p:sldId id="284" r:id="rId25"/>
    <p:sldId id="285"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BFE14C-D42D-A441-93DA-AF87B8912529}" v="12" dt="2020-07-14T15:18:14.70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2"/>
    <p:restoredTop sz="95928"/>
  </p:normalViewPr>
  <p:slideViewPr>
    <p:cSldViewPr snapToGrid="0" snapToObjects="1">
      <p:cViewPr varScale="1">
        <p:scale>
          <a:sx n="111" d="100"/>
          <a:sy n="111" d="100"/>
        </p:scale>
        <p:origin x="456"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8C5DEAFB-9111-534E-8D94-8DC50910FB07}" type="datetimeFigureOut">
              <a:rPr lang="es-MX" smtClean="0"/>
              <a:pPr/>
              <a:t>04/11/2022</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A7652F4-BAB4-B94A-B6A2-CE973132470C}" type="slidenum">
              <a:rPr lang="es-MX" smtClean="0"/>
              <a:pPr/>
              <a:t>‹#›</a:t>
            </a:fld>
            <a:endParaRPr lang="es-MX"/>
          </a:p>
        </p:txBody>
      </p:sp>
    </p:spTree>
    <p:extLst>
      <p:ext uri="{BB962C8B-B14F-4D97-AF65-F5344CB8AC3E}">
        <p14:creationId xmlns:p14="http://schemas.microsoft.com/office/powerpoint/2010/main" val="5601887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8C5DEAFB-9111-534E-8D94-8DC50910FB07}" type="datetimeFigureOut">
              <a:rPr lang="es-MX" smtClean="0"/>
              <a:pPr/>
              <a:t>04/11/2022</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A7652F4-BAB4-B94A-B6A2-CE973132470C}" type="slidenum">
              <a:rPr lang="es-MX" smtClean="0"/>
              <a:pPr/>
              <a:t>‹#›</a:t>
            </a:fld>
            <a:endParaRPr lang="es-MX"/>
          </a:p>
        </p:txBody>
      </p:sp>
    </p:spTree>
    <p:extLst>
      <p:ext uri="{BB962C8B-B14F-4D97-AF65-F5344CB8AC3E}">
        <p14:creationId xmlns:p14="http://schemas.microsoft.com/office/powerpoint/2010/main" val="156593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8C5DEAFB-9111-534E-8D94-8DC50910FB07}" type="datetimeFigureOut">
              <a:rPr lang="es-MX" smtClean="0"/>
              <a:pPr/>
              <a:t>04/11/2022</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A7652F4-BAB4-B94A-B6A2-CE973132470C}" type="slidenum">
              <a:rPr lang="es-MX" smtClean="0"/>
              <a:pPr/>
              <a:t>‹#›</a:t>
            </a:fld>
            <a:endParaRPr lang="es-MX"/>
          </a:p>
        </p:txBody>
      </p:sp>
    </p:spTree>
    <p:extLst>
      <p:ext uri="{BB962C8B-B14F-4D97-AF65-F5344CB8AC3E}">
        <p14:creationId xmlns:p14="http://schemas.microsoft.com/office/powerpoint/2010/main" val="3286743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8C5DEAFB-9111-534E-8D94-8DC50910FB07}" type="datetimeFigureOut">
              <a:rPr lang="es-MX" smtClean="0"/>
              <a:pPr/>
              <a:t>04/11/2022</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A7652F4-BAB4-B94A-B6A2-CE973132470C}" type="slidenum">
              <a:rPr lang="es-MX" smtClean="0"/>
              <a:pPr/>
              <a:t>‹#›</a:t>
            </a:fld>
            <a:endParaRPr lang="es-MX"/>
          </a:p>
        </p:txBody>
      </p:sp>
    </p:spTree>
    <p:extLst>
      <p:ext uri="{BB962C8B-B14F-4D97-AF65-F5344CB8AC3E}">
        <p14:creationId xmlns:p14="http://schemas.microsoft.com/office/powerpoint/2010/main" val="2410942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8C5DEAFB-9111-534E-8D94-8DC50910FB07}" type="datetimeFigureOut">
              <a:rPr lang="es-MX" smtClean="0"/>
              <a:pPr/>
              <a:t>04/11/2022</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5A7652F4-BAB4-B94A-B6A2-CE973132470C}" type="slidenum">
              <a:rPr lang="es-MX" smtClean="0"/>
              <a:pPr/>
              <a:t>‹#›</a:t>
            </a:fld>
            <a:endParaRPr lang="es-MX"/>
          </a:p>
        </p:txBody>
      </p:sp>
    </p:spTree>
    <p:extLst>
      <p:ext uri="{BB962C8B-B14F-4D97-AF65-F5344CB8AC3E}">
        <p14:creationId xmlns:p14="http://schemas.microsoft.com/office/powerpoint/2010/main" val="2327501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8C5DEAFB-9111-534E-8D94-8DC50910FB07}" type="datetimeFigureOut">
              <a:rPr lang="es-MX" smtClean="0"/>
              <a:pPr/>
              <a:t>04/11/2022</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A7652F4-BAB4-B94A-B6A2-CE973132470C}" type="slidenum">
              <a:rPr lang="es-MX" smtClean="0"/>
              <a:pPr/>
              <a:t>‹#›</a:t>
            </a:fld>
            <a:endParaRPr lang="es-MX"/>
          </a:p>
        </p:txBody>
      </p:sp>
    </p:spTree>
    <p:extLst>
      <p:ext uri="{BB962C8B-B14F-4D97-AF65-F5344CB8AC3E}">
        <p14:creationId xmlns:p14="http://schemas.microsoft.com/office/powerpoint/2010/main" val="2686459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5DEAFB-9111-534E-8D94-8DC50910FB07}" type="datetimeFigureOut">
              <a:rPr lang="es-MX" smtClean="0"/>
              <a:pPr/>
              <a:t>04/11/2022</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5A7652F4-BAB4-B94A-B6A2-CE973132470C}" type="slidenum">
              <a:rPr lang="es-MX" smtClean="0"/>
              <a:pPr/>
              <a:t>‹#›</a:t>
            </a:fld>
            <a:endParaRPr lang="es-MX"/>
          </a:p>
        </p:txBody>
      </p:sp>
    </p:spTree>
    <p:extLst>
      <p:ext uri="{BB962C8B-B14F-4D97-AF65-F5344CB8AC3E}">
        <p14:creationId xmlns:p14="http://schemas.microsoft.com/office/powerpoint/2010/main" val="143508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MX"/>
              <a:t>Haz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8C5DEAFB-9111-534E-8D94-8DC50910FB07}" type="datetimeFigureOut">
              <a:rPr lang="es-MX" smtClean="0"/>
              <a:pPr/>
              <a:t>04/11/2022</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A7652F4-BAB4-B94A-B6A2-CE973132470C}" type="slidenum">
              <a:rPr lang="es-MX" smtClean="0"/>
              <a:pPr/>
              <a:t>‹#›</a:t>
            </a:fld>
            <a:endParaRPr lang="es-MX"/>
          </a:p>
        </p:txBody>
      </p:sp>
    </p:spTree>
    <p:extLst>
      <p:ext uri="{BB962C8B-B14F-4D97-AF65-F5344CB8AC3E}">
        <p14:creationId xmlns:p14="http://schemas.microsoft.com/office/powerpoint/2010/main" val="4284043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8C5DEAFB-9111-534E-8D94-8DC50910FB07}" type="datetimeFigureOut">
              <a:rPr lang="es-MX" smtClean="0"/>
              <a:pPr/>
              <a:t>04/11/2022</a:t>
            </a:fld>
            <a:endParaRPr lang="es-MX"/>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A7652F4-BAB4-B94A-B6A2-CE973132470C}" type="slidenum">
              <a:rPr lang="es-MX" smtClean="0"/>
              <a:pPr/>
              <a:t>‹#›</a:t>
            </a:fld>
            <a:endParaRPr lang="es-MX"/>
          </a:p>
        </p:txBody>
      </p:sp>
    </p:spTree>
    <p:extLst>
      <p:ext uri="{BB962C8B-B14F-4D97-AF65-F5344CB8AC3E}">
        <p14:creationId xmlns:p14="http://schemas.microsoft.com/office/powerpoint/2010/main" val="36921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8C5DEAFB-9111-534E-8D94-8DC50910FB07}" type="datetimeFigureOut">
              <a:rPr lang="es-MX" smtClean="0"/>
              <a:pPr/>
              <a:t>04/11/2022</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A7652F4-BAB4-B94A-B6A2-CE973132470C}" type="slidenum">
              <a:rPr lang="es-MX" smtClean="0"/>
              <a:pPr/>
              <a:t>‹#›</a:t>
            </a:fld>
            <a:endParaRPr lang="es-MX"/>
          </a:p>
        </p:txBody>
      </p:sp>
    </p:spTree>
    <p:extLst>
      <p:ext uri="{BB962C8B-B14F-4D97-AF65-F5344CB8AC3E}">
        <p14:creationId xmlns:p14="http://schemas.microsoft.com/office/powerpoint/2010/main" val="3485163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MX"/>
              <a:t>Haz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MX"/>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8C5DEAFB-9111-534E-8D94-8DC50910FB07}" type="datetimeFigureOut">
              <a:rPr lang="es-MX" smtClean="0"/>
              <a:pPr/>
              <a:t>04/11/2022</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A7652F4-BAB4-B94A-B6A2-CE973132470C}" type="slidenum">
              <a:rPr lang="es-MX" smtClean="0"/>
              <a:pPr/>
              <a:t>‹#›</a:t>
            </a:fld>
            <a:endParaRPr lang="es-MX"/>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855972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8C5DEAFB-9111-534E-8D94-8DC50910FB07}" type="datetimeFigureOut">
              <a:rPr lang="es-MX" smtClean="0"/>
              <a:pPr/>
              <a:t>04/11/2022</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A7652F4-BAB4-B94A-B6A2-CE973132470C}" type="slidenum">
              <a:rPr lang="es-MX" smtClean="0"/>
              <a:pPr/>
              <a:t>‹#›</a:t>
            </a:fld>
            <a:endParaRPr lang="es-MX"/>
          </a:p>
        </p:txBody>
      </p:sp>
    </p:spTree>
    <p:extLst>
      <p:ext uri="{BB962C8B-B14F-4D97-AF65-F5344CB8AC3E}">
        <p14:creationId xmlns:p14="http://schemas.microsoft.com/office/powerpoint/2010/main" val="33660716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MX"/>
              <a:t>Haz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MX"/>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8C5DEAFB-9111-534E-8D94-8DC50910FB07}" type="datetimeFigureOut">
              <a:rPr lang="es-MX" smtClean="0"/>
              <a:pPr/>
              <a:t>04/11/2022</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A7652F4-BAB4-B94A-B6A2-CE973132470C}" type="slidenum">
              <a:rPr lang="es-MX" smtClean="0"/>
              <a:pPr/>
              <a:t>‹#›</a:t>
            </a:fld>
            <a:endParaRPr lang="es-MX"/>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998057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MX"/>
              <a:t>Haz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MX"/>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8C5DEAFB-9111-534E-8D94-8DC50910FB07}" type="datetimeFigureOut">
              <a:rPr lang="es-MX" smtClean="0"/>
              <a:pPr/>
              <a:t>04/11/2022</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A7652F4-BAB4-B94A-B6A2-CE973132470C}" type="slidenum">
              <a:rPr lang="es-MX" smtClean="0"/>
              <a:pPr/>
              <a:t>‹#›</a:t>
            </a:fld>
            <a:endParaRPr lang="es-MX"/>
          </a:p>
        </p:txBody>
      </p:sp>
    </p:spTree>
    <p:extLst>
      <p:ext uri="{BB962C8B-B14F-4D97-AF65-F5344CB8AC3E}">
        <p14:creationId xmlns:p14="http://schemas.microsoft.com/office/powerpoint/2010/main" val="18752969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8C5DEAFB-9111-534E-8D94-8DC50910FB07}" type="datetimeFigureOut">
              <a:rPr lang="es-MX" smtClean="0"/>
              <a:pPr/>
              <a:t>04/11/2022</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A7652F4-BAB4-B94A-B6A2-CE973132470C}" type="slidenum">
              <a:rPr lang="es-MX" smtClean="0"/>
              <a:pPr/>
              <a:t>‹#›</a:t>
            </a:fld>
            <a:endParaRPr lang="es-MX"/>
          </a:p>
        </p:txBody>
      </p:sp>
    </p:spTree>
    <p:extLst>
      <p:ext uri="{BB962C8B-B14F-4D97-AF65-F5344CB8AC3E}">
        <p14:creationId xmlns:p14="http://schemas.microsoft.com/office/powerpoint/2010/main" val="25972212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8C5DEAFB-9111-534E-8D94-8DC50910FB07}" type="datetimeFigureOut">
              <a:rPr lang="es-MX" smtClean="0"/>
              <a:pPr/>
              <a:t>04/11/2022</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A7652F4-BAB4-B94A-B6A2-CE973132470C}" type="slidenum">
              <a:rPr lang="es-MX" smtClean="0"/>
              <a:pPr/>
              <a:t>‹#›</a:t>
            </a:fld>
            <a:endParaRPr lang="es-MX"/>
          </a:p>
        </p:txBody>
      </p:sp>
    </p:spTree>
    <p:extLst>
      <p:ext uri="{BB962C8B-B14F-4D97-AF65-F5344CB8AC3E}">
        <p14:creationId xmlns:p14="http://schemas.microsoft.com/office/powerpoint/2010/main" val="1193134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C5DEAFB-9111-534E-8D94-8DC50910FB07}" type="datetimeFigureOut">
              <a:rPr lang="es-MX" smtClean="0"/>
              <a:pPr/>
              <a:t>04/11/2022</a:t>
            </a:fld>
            <a:endParaRPr lang="es-MX"/>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A7652F4-BAB4-B94A-B6A2-CE973132470C}" type="slidenum">
              <a:rPr lang="es-MX" smtClean="0"/>
              <a:pPr/>
              <a:t>‹#›</a:t>
            </a:fld>
            <a:endParaRPr lang="es-MX"/>
          </a:p>
        </p:txBody>
      </p:sp>
    </p:spTree>
    <p:extLst>
      <p:ext uri="{BB962C8B-B14F-4D97-AF65-F5344CB8AC3E}">
        <p14:creationId xmlns:p14="http://schemas.microsoft.com/office/powerpoint/2010/main" val="2319284100"/>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36D28E-DEB4-184C-9487-7375EC786E74}"/>
              </a:ext>
            </a:extLst>
          </p:cNvPr>
          <p:cNvSpPr>
            <a:spLocks noGrp="1"/>
          </p:cNvSpPr>
          <p:nvPr>
            <p:ph type="ctrTitle"/>
          </p:nvPr>
        </p:nvSpPr>
        <p:spPr/>
        <p:txBody>
          <a:bodyPr/>
          <a:lstStyle/>
          <a:p>
            <a:r>
              <a:rPr lang="es-MX" sz="6000" dirty="0"/>
              <a:t>Curso de Selenium </a:t>
            </a:r>
          </a:p>
        </p:txBody>
      </p:sp>
      <p:pic>
        <p:nvPicPr>
          <p:cNvPr id="5" name="Imagen 4">
            <a:extLst>
              <a:ext uri="{FF2B5EF4-FFF2-40B4-BE49-F238E27FC236}">
                <a16:creationId xmlns:a16="http://schemas.microsoft.com/office/drawing/2014/main" id="{3546CDE0-8D8B-AB47-83A2-B6BA09C7BB9E}"/>
              </a:ext>
            </a:extLst>
          </p:cNvPr>
          <p:cNvPicPr>
            <a:picLocks noChangeAspect="1"/>
          </p:cNvPicPr>
          <p:nvPr/>
        </p:nvPicPr>
        <p:blipFill>
          <a:blip r:embed="rId2"/>
          <a:stretch>
            <a:fillRect/>
          </a:stretch>
        </p:blipFill>
        <p:spPr>
          <a:xfrm>
            <a:off x="0" y="5147732"/>
            <a:ext cx="4902073" cy="2451037"/>
          </a:xfrm>
          <a:prstGeom prst="rect">
            <a:avLst/>
          </a:prstGeom>
        </p:spPr>
      </p:pic>
    </p:spTree>
    <p:extLst>
      <p:ext uri="{BB962C8B-B14F-4D97-AF65-F5344CB8AC3E}">
        <p14:creationId xmlns:p14="http://schemas.microsoft.com/office/powerpoint/2010/main" val="1787078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1B9140-CA01-1345-93F4-FFAF8EDDED9E}"/>
              </a:ext>
            </a:extLst>
          </p:cNvPr>
          <p:cNvSpPr>
            <a:spLocks noGrp="1"/>
          </p:cNvSpPr>
          <p:nvPr>
            <p:ph type="title"/>
          </p:nvPr>
        </p:nvSpPr>
        <p:spPr>
          <a:xfrm>
            <a:off x="677334" y="195943"/>
            <a:ext cx="8596668" cy="1320800"/>
          </a:xfrm>
        </p:spPr>
        <p:txBody>
          <a:bodyPr/>
          <a:lstStyle/>
          <a:p>
            <a:r>
              <a:rPr lang="es-MX" dirty="0"/>
              <a:t>Índice</a:t>
            </a:r>
          </a:p>
        </p:txBody>
      </p:sp>
      <p:sp>
        <p:nvSpPr>
          <p:cNvPr id="6" name="Marcador de contenido 5">
            <a:extLst>
              <a:ext uri="{FF2B5EF4-FFF2-40B4-BE49-F238E27FC236}">
                <a16:creationId xmlns:a16="http://schemas.microsoft.com/office/drawing/2014/main" id="{AC4FF055-FFA7-48BC-B18B-DAF321FF5694}"/>
              </a:ext>
            </a:extLst>
          </p:cNvPr>
          <p:cNvSpPr>
            <a:spLocks noGrp="1"/>
          </p:cNvSpPr>
          <p:nvPr>
            <p:ph idx="1"/>
          </p:nvPr>
        </p:nvSpPr>
        <p:spPr>
          <a:xfrm>
            <a:off x="362545" y="901337"/>
            <a:ext cx="9682792" cy="5185954"/>
          </a:xfrm>
        </p:spPr>
        <p:txBody>
          <a:bodyPr>
            <a:noAutofit/>
          </a:bodyPr>
          <a:lstStyle/>
          <a:p>
            <a:pPr lvl="0"/>
            <a:r>
              <a:rPr lang="es-MX" sz="1400" b="1" dirty="0"/>
              <a:t>Java Básico</a:t>
            </a:r>
          </a:p>
          <a:p>
            <a:pPr lvl="2"/>
            <a:r>
              <a:rPr lang="es-MX" dirty="0"/>
              <a:t>Tipos de datos</a:t>
            </a:r>
          </a:p>
          <a:p>
            <a:pPr lvl="2"/>
            <a:r>
              <a:rPr lang="es-MX" dirty="0"/>
              <a:t>Operadores</a:t>
            </a:r>
          </a:p>
          <a:p>
            <a:pPr lvl="2"/>
            <a:r>
              <a:rPr lang="es-MX" dirty="0"/>
              <a:t>Condicionales</a:t>
            </a:r>
          </a:p>
          <a:p>
            <a:pPr lvl="2"/>
            <a:r>
              <a:rPr lang="es-MX" dirty="0"/>
              <a:t>Ciclos</a:t>
            </a:r>
          </a:p>
          <a:p>
            <a:pPr lvl="2"/>
            <a:r>
              <a:rPr lang="es-MX" dirty="0"/>
              <a:t>Arreglos</a:t>
            </a:r>
          </a:p>
          <a:p>
            <a:pPr lvl="2"/>
            <a:r>
              <a:rPr lang="es-MX" dirty="0"/>
              <a:t>Métodos</a:t>
            </a:r>
          </a:p>
          <a:p>
            <a:r>
              <a:rPr lang="es-MX" sz="1400" b="1" dirty="0"/>
              <a:t>Java Intermedio</a:t>
            </a:r>
          </a:p>
          <a:p>
            <a:pPr lvl="2"/>
            <a:r>
              <a:rPr lang="es-MX" dirty="0"/>
              <a:t>Clases y Objetos</a:t>
            </a:r>
          </a:p>
          <a:p>
            <a:pPr lvl="2"/>
            <a:r>
              <a:rPr lang="es-MX" dirty="0"/>
              <a:t>Constructores</a:t>
            </a:r>
          </a:p>
          <a:p>
            <a:pPr lvl="2"/>
            <a:r>
              <a:rPr lang="es-MX" dirty="0"/>
              <a:t>Sobrecarga de métodos</a:t>
            </a:r>
          </a:p>
          <a:p>
            <a:pPr lvl="2"/>
            <a:r>
              <a:rPr lang="es-MX" dirty="0"/>
              <a:t>Herencia</a:t>
            </a:r>
          </a:p>
          <a:p>
            <a:pPr lvl="2"/>
            <a:r>
              <a:rPr lang="es-MX" dirty="0"/>
              <a:t>Polimorfismo</a:t>
            </a:r>
          </a:p>
          <a:p>
            <a:pPr lvl="2"/>
            <a:r>
              <a:rPr lang="es-MX" dirty="0"/>
              <a:t>Encapsulamiento</a:t>
            </a:r>
          </a:p>
          <a:p>
            <a:pPr lvl="2"/>
            <a:r>
              <a:rPr lang="es-MX" dirty="0"/>
              <a:t>Modificadores de acceso</a:t>
            </a:r>
          </a:p>
        </p:txBody>
      </p:sp>
      <p:pic>
        <p:nvPicPr>
          <p:cNvPr id="5" name="Imagen 4">
            <a:extLst>
              <a:ext uri="{FF2B5EF4-FFF2-40B4-BE49-F238E27FC236}">
                <a16:creationId xmlns:a16="http://schemas.microsoft.com/office/drawing/2014/main" id="{D6CC280B-B480-4443-8AEF-9104E55A21BF}"/>
              </a:ext>
            </a:extLst>
          </p:cNvPr>
          <p:cNvPicPr>
            <a:picLocks noChangeAspect="1"/>
          </p:cNvPicPr>
          <p:nvPr/>
        </p:nvPicPr>
        <p:blipFill>
          <a:blip r:embed="rId2"/>
          <a:stretch>
            <a:fillRect/>
          </a:stretch>
        </p:blipFill>
        <p:spPr>
          <a:xfrm>
            <a:off x="505420" y="5882872"/>
            <a:ext cx="2817029" cy="1408515"/>
          </a:xfrm>
          <a:prstGeom prst="rect">
            <a:avLst/>
          </a:prstGeom>
        </p:spPr>
      </p:pic>
      <p:pic>
        <p:nvPicPr>
          <p:cNvPr id="3074" name="Picture 2" descr="Cómo actualizar Java en tu ordenador"/>
          <p:cNvPicPr>
            <a:picLocks noChangeAspect="1" noChangeArrowheads="1"/>
          </p:cNvPicPr>
          <p:nvPr/>
        </p:nvPicPr>
        <p:blipFill>
          <a:blip r:embed="rId3"/>
          <a:srcRect/>
          <a:stretch>
            <a:fillRect/>
          </a:stretch>
        </p:blipFill>
        <p:spPr bwMode="auto">
          <a:xfrm>
            <a:off x="4101972" y="2442755"/>
            <a:ext cx="4428074" cy="1690049"/>
          </a:xfrm>
          <a:prstGeom prst="rect">
            <a:avLst/>
          </a:prstGeom>
          <a:noFill/>
        </p:spPr>
      </p:pic>
    </p:spTree>
    <p:extLst>
      <p:ext uri="{BB962C8B-B14F-4D97-AF65-F5344CB8AC3E}">
        <p14:creationId xmlns:p14="http://schemas.microsoft.com/office/powerpoint/2010/main" val="2261646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Tipos de Datos ( Numéricos Enteros)</a:t>
            </a:r>
            <a:endParaRPr lang="en-US" dirty="0"/>
          </a:p>
        </p:txBody>
      </p:sp>
      <p:sp>
        <p:nvSpPr>
          <p:cNvPr id="3" name="Content Placeholder 2"/>
          <p:cNvSpPr>
            <a:spLocks noGrp="1"/>
          </p:cNvSpPr>
          <p:nvPr>
            <p:ph idx="1"/>
          </p:nvPr>
        </p:nvSpPr>
        <p:spPr/>
        <p:txBody>
          <a:bodyPr/>
          <a:lstStyle/>
          <a:p>
            <a:r>
              <a:rPr lang="es-ES" dirty="0"/>
              <a:t>El tipo de dato numérico entero es un subconjunto finito de los números enteros del mundo real. Pueden ser positivos o negativos.</a:t>
            </a:r>
            <a:endParaRPr lang="es-MX" dirty="0"/>
          </a:p>
          <a:p>
            <a:pPr lvl="1"/>
            <a:r>
              <a:rPr lang="es-MX" dirty="0"/>
              <a:t>Byte (byte) -&gt; rango (-128 a 127) -&gt; 1 Byte</a:t>
            </a:r>
          </a:p>
          <a:p>
            <a:pPr lvl="2"/>
            <a:r>
              <a:rPr lang="es-MX" dirty="0"/>
              <a:t>Valor por Defecto: 0</a:t>
            </a:r>
          </a:p>
          <a:p>
            <a:pPr lvl="1"/>
            <a:r>
              <a:rPr lang="es-MX" dirty="0"/>
              <a:t>Short (short) -&gt; rango(-32768 a 32767) -&gt; 2 Bytes</a:t>
            </a:r>
          </a:p>
          <a:p>
            <a:pPr lvl="2"/>
            <a:r>
              <a:rPr lang="es-MX" dirty="0"/>
              <a:t>Valor por defecto: 0</a:t>
            </a:r>
          </a:p>
          <a:p>
            <a:pPr lvl="1"/>
            <a:r>
              <a:rPr lang="es-MX" dirty="0" err="1"/>
              <a:t>Integer</a:t>
            </a:r>
            <a:r>
              <a:rPr lang="es-MX" dirty="0"/>
              <a:t> (</a:t>
            </a:r>
            <a:r>
              <a:rPr lang="es-MX" dirty="0" err="1"/>
              <a:t>int</a:t>
            </a:r>
            <a:r>
              <a:rPr lang="es-MX" dirty="0"/>
              <a:t>) -&gt; rango (</a:t>
            </a:r>
            <a:r>
              <a:rPr lang="en-US" dirty="0"/>
              <a:t>-2147483648 a 2147483647) -&gt; 4 Bytes</a:t>
            </a:r>
          </a:p>
          <a:p>
            <a:pPr lvl="2"/>
            <a:r>
              <a:rPr lang="es-MX" dirty="0"/>
              <a:t>Valor por defecto: 0</a:t>
            </a:r>
            <a:endParaRPr lang="en-US" dirty="0"/>
          </a:p>
          <a:p>
            <a:pPr lvl="1"/>
            <a:r>
              <a:rPr lang="es-MX" dirty="0"/>
              <a:t>Long (</a:t>
            </a:r>
            <a:r>
              <a:rPr lang="es-MX" dirty="0" err="1"/>
              <a:t>long</a:t>
            </a:r>
            <a:r>
              <a:rPr lang="es-MX" dirty="0"/>
              <a:t>) -&gt; rango (</a:t>
            </a:r>
            <a:r>
              <a:rPr lang="en-US" dirty="0"/>
              <a:t>-9223372036854775808 a 9223372036854775807) -&gt; 8 Bytes</a:t>
            </a:r>
          </a:p>
          <a:p>
            <a:pPr lvl="2"/>
            <a:r>
              <a:rPr lang="es-MX" dirty="0"/>
              <a:t>Valor por defecto: 0L</a:t>
            </a:r>
          </a:p>
          <a:p>
            <a:pPr marL="914400" lvl="2" indent="0">
              <a:buNone/>
            </a:pPr>
            <a:endParaRPr lang="en-US" dirty="0"/>
          </a:p>
        </p:txBody>
      </p:sp>
      <p:pic>
        <p:nvPicPr>
          <p:cNvPr id="6" name="Imagen 4">
            <a:extLst>
              <a:ext uri="{FF2B5EF4-FFF2-40B4-BE49-F238E27FC236}">
                <a16:creationId xmlns:a16="http://schemas.microsoft.com/office/drawing/2014/main" id="{93AD876C-7001-4948-AA04-28A9C407BC8E}"/>
              </a:ext>
            </a:extLst>
          </p:cNvPr>
          <p:cNvPicPr>
            <a:picLocks noChangeAspect="1"/>
          </p:cNvPicPr>
          <p:nvPr/>
        </p:nvPicPr>
        <p:blipFill>
          <a:blip r:embed="rId2"/>
          <a:stretch>
            <a:fillRect/>
          </a:stretch>
        </p:blipFill>
        <p:spPr>
          <a:xfrm>
            <a:off x="677334" y="5743609"/>
            <a:ext cx="2817029" cy="14085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Tipos de Datos ( Numéricos Reales)</a:t>
            </a:r>
            <a:endParaRPr lang="en-US" dirty="0"/>
          </a:p>
        </p:txBody>
      </p:sp>
      <p:sp>
        <p:nvSpPr>
          <p:cNvPr id="3" name="Content Placeholder 2"/>
          <p:cNvSpPr>
            <a:spLocks noGrp="1"/>
          </p:cNvSpPr>
          <p:nvPr>
            <p:ph idx="1"/>
          </p:nvPr>
        </p:nvSpPr>
        <p:spPr/>
        <p:txBody>
          <a:bodyPr/>
          <a:lstStyle/>
          <a:p>
            <a:r>
              <a:rPr lang="es-ES" dirty="0"/>
              <a:t>El tipo de dato numérico real es un subconjunto finito de los números reales. Siempre llevan un punto decimal y también pueden ser positivos o negativos. Los números reales tienen una parte entera y una parte decimal.</a:t>
            </a:r>
            <a:endParaRPr lang="es-MX" dirty="0"/>
          </a:p>
          <a:p>
            <a:endParaRPr lang="es-MX" dirty="0"/>
          </a:p>
          <a:p>
            <a:pPr lvl="1"/>
            <a:r>
              <a:rPr lang="es-MX" dirty="0" err="1"/>
              <a:t>Float</a:t>
            </a:r>
            <a:r>
              <a:rPr lang="es-MX" dirty="0"/>
              <a:t> (</a:t>
            </a:r>
            <a:r>
              <a:rPr lang="es-MX" dirty="0" err="1"/>
              <a:t>float</a:t>
            </a:r>
            <a:r>
              <a:rPr lang="es-MX" dirty="0"/>
              <a:t>) -&gt; rango (</a:t>
            </a:r>
            <a:r>
              <a:rPr lang="en-US" dirty="0"/>
              <a:t>± 3.4x10</a:t>
            </a:r>
            <a:r>
              <a:rPr lang="en-US" baseline="30000" dirty="0"/>
              <a:t>-38 a </a:t>
            </a:r>
            <a:r>
              <a:rPr lang="en-US" dirty="0"/>
              <a:t>± 3.4x10</a:t>
            </a:r>
            <a:r>
              <a:rPr lang="en-US" baseline="30000" dirty="0"/>
              <a:t>38</a:t>
            </a:r>
            <a:r>
              <a:rPr lang="es-MX" dirty="0"/>
              <a:t>) -&gt; 4 Bytes</a:t>
            </a:r>
          </a:p>
          <a:p>
            <a:pPr lvl="2"/>
            <a:r>
              <a:rPr lang="es-MX" dirty="0"/>
              <a:t>Valor por defecto: 0.0f</a:t>
            </a:r>
          </a:p>
          <a:p>
            <a:pPr lvl="1"/>
            <a:r>
              <a:rPr lang="es-MX" dirty="0" err="1"/>
              <a:t>Double</a:t>
            </a:r>
            <a:r>
              <a:rPr lang="es-MX" dirty="0"/>
              <a:t> (</a:t>
            </a:r>
            <a:r>
              <a:rPr lang="es-MX" dirty="0" err="1"/>
              <a:t>double</a:t>
            </a:r>
            <a:r>
              <a:rPr lang="es-MX" dirty="0"/>
              <a:t>) -&gt; rango</a:t>
            </a:r>
            <a:r>
              <a:rPr lang="en-US" dirty="0"/>
              <a:t> (± 1.8x10</a:t>
            </a:r>
            <a:r>
              <a:rPr lang="en-US" baseline="30000" dirty="0"/>
              <a:t>-308 a </a:t>
            </a:r>
            <a:r>
              <a:rPr lang="en-US" dirty="0"/>
              <a:t>± 1.8x10</a:t>
            </a:r>
            <a:r>
              <a:rPr lang="en-US" baseline="30000" dirty="0"/>
              <a:t>308</a:t>
            </a:r>
            <a:r>
              <a:rPr lang="es-MX" dirty="0"/>
              <a:t>) -&gt; 8 Bytes</a:t>
            </a:r>
          </a:p>
          <a:p>
            <a:pPr lvl="2"/>
            <a:r>
              <a:rPr lang="es-MX" dirty="0"/>
              <a:t>Valor por defecto: 0.0d</a:t>
            </a:r>
          </a:p>
        </p:txBody>
      </p:sp>
      <p:pic>
        <p:nvPicPr>
          <p:cNvPr id="6" name="Imagen 4">
            <a:extLst>
              <a:ext uri="{FF2B5EF4-FFF2-40B4-BE49-F238E27FC236}">
                <a16:creationId xmlns:a16="http://schemas.microsoft.com/office/drawing/2014/main" id="{93AD876C-7001-4948-AA04-28A9C407BC8E}"/>
              </a:ext>
            </a:extLst>
          </p:cNvPr>
          <p:cNvPicPr>
            <a:picLocks noChangeAspect="1"/>
          </p:cNvPicPr>
          <p:nvPr/>
        </p:nvPicPr>
        <p:blipFill>
          <a:blip r:embed="rId2"/>
          <a:stretch>
            <a:fillRect/>
          </a:stretch>
        </p:blipFill>
        <p:spPr>
          <a:xfrm>
            <a:off x="677334" y="5743609"/>
            <a:ext cx="2817029" cy="14085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Tipos de Datos ( Carácter y </a:t>
            </a:r>
            <a:r>
              <a:rPr lang="es-MX" dirty="0" err="1"/>
              <a:t>logico</a:t>
            </a:r>
            <a:r>
              <a:rPr lang="es-MX" dirty="0"/>
              <a:t>)</a:t>
            </a:r>
            <a:endParaRPr lang="en-US" dirty="0"/>
          </a:p>
        </p:txBody>
      </p:sp>
      <p:sp>
        <p:nvSpPr>
          <p:cNvPr id="3" name="Content Placeholder 2"/>
          <p:cNvSpPr>
            <a:spLocks noGrp="1"/>
          </p:cNvSpPr>
          <p:nvPr>
            <p:ph idx="1"/>
          </p:nvPr>
        </p:nvSpPr>
        <p:spPr/>
        <p:txBody>
          <a:bodyPr/>
          <a:lstStyle/>
          <a:p>
            <a:r>
              <a:rPr lang="es-ES" dirty="0"/>
              <a:t>Un dato de tipo carácter se utiliza para representar un carácter dentro del rango \u0000 a \</a:t>
            </a:r>
            <a:r>
              <a:rPr lang="es-ES" dirty="0" err="1"/>
              <a:t>uFFFF</a:t>
            </a:r>
            <a:r>
              <a:rPr lang="es-ES" dirty="0"/>
              <a:t> (números desde 0 hasta 65535) en </a:t>
            </a:r>
            <a:r>
              <a:rPr lang="es-ES" b="1" dirty="0"/>
              <a:t>Unicode</a:t>
            </a:r>
            <a:r>
              <a:rPr lang="es-ES" dirty="0"/>
              <a:t>. En realidad un dato de tipo </a:t>
            </a:r>
            <a:r>
              <a:rPr lang="es-ES" dirty="0" err="1"/>
              <a:t>char</a:t>
            </a:r>
            <a:r>
              <a:rPr lang="es-ES" dirty="0"/>
              <a:t> </a:t>
            </a:r>
            <a:r>
              <a:rPr lang="es-ES" b="1" dirty="0"/>
              <a:t>contiene un número entero</a:t>
            </a:r>
            <a:r>
              <a:rPr lang="es-ES" dirty="0"/>
              <a:t> dentro del rango anterior que representa un carácter.</a:t>
            </a:r>
            <a:r>
              <a:rPr lang="en-US" dirty="0"/>
              <a:t> </a:t>
            </a:r>
            <a:endParaRPr lang="es-ES" dirty="0"/>
          </a:p>
          <a:p>
            <a:endParaRPr lang="es-MX" dirty="0"/>
          </a:p>
          <a:p>
            <a:pPr lvl="1"/>
            <a:r>
              <a:rPr lang="es-MX" dirty="0"/>
              <a:t>Carácter (</a:t>
            </a:r>
            <a:r>
              <a:rPr lang="es-MX" dirty="0" err="1"/>
              <a:t>char</a:t>
            </a:r>
            <a:r>
              <a:rPr lang="es-MX" dirty="0"/>
              <a:t>)</a:t>
            </a:r>
          </a:p>
          <a:p>
            <a:pPr lvl="2"/>
            <a:r>
              <a:rPr lang="es-MX" b="1" dirty="0"/>
              <a:t>Valor</a:t>
            </a:r>
            <a:r>
              <a:rPr lang="es-MX" dirty="0"/>
              <a:t> por defecto: ‘u0000’</a:t>
            </a:r>
          </a:p>
          <a:p>
            <a:pPr lvl="1"/>
            <a:r>
              <a:rPr lang="es-MX" dirty="0"/>
              <a:t>Conjunto de </a:t>
            </a:r>
            <a:r>
              <a:rPr lang="es-MX" dirty="0" err="1"/>
              <a:t>caracters</a:t>
            </a:r>
            <a:r>
              <a:rPr lang="es-MX" dirty="0"/>
              <a:t> (</a:t>
            </a:r>
            <a:r>
              <a:rPr lang="es-MX" dirty="0" err="1"/>
              <a:t>String</a:t>
            </a:r>
            <a:r>
              <a:rPr lang="es-MX" dirty="0"/>
              <a:t>)</a:t>
            </a:r>
          </a:p>
          <a:p>
            <a:pPr lvl="2"/>
            <a:r>
              <a:rPr lang="es-MX" dirty="0"/>
              <a:t>Valor por defecto: </a:t>
            </a:r>
            <a:r>
              <a:rPr lang="es-MX" dirty="0" err="1"/>
              <a:t>null</a:t>
            </a:r>
            <a:endParaRPr lang="es-MX" dirty="0"/>
          </a:p>
        </p:txBody>
      </p:sp>
      <p:pic>
        <p:nvPicPr>
          <p:cNvPr id="6" name="Imagen 4">
            <a:extLst>
              <a:ext uri="{FF2B5EF4-FFF2-40B4-BE49-F238E27FC236}">
                <a16:creationId xmlns:a16="http://schemas.microsoft.com/office/drawing/2014/main" id="{93AD876C-7001-4948-AA04-28A9C407BC8E}"/>
              </a:ext>
            </a:extLst>
          </p:cNvPr>
          <p:cNvPicPr>
            <a:picLocks noChangeAspect="1"/>
          </p:cNvPicPr>
          <p:nvPr/>
        </p:nvPicPr>
        <p:blipFill>
          <a:blip r:embed="rId2"/>
          <a:stretch>
            <a:fillRect/>
          </a:stretch>
        </p:blipFill>
        <p:spPr>
          <a:xfrm>
            <a:off x="677334" y="5743609"/>
            <a:ext cx="2817029" cy="14085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Tipos de Datos ( Carácter y </a:t>
            </a:r>
            <a:r>
              <a:rPr lang="es-MX" dirty="0" err="1"/>
              <a:t>logico</a:t>
            </a:r>
            <a:r>
              <a:rPr lang="es-MX" dirty="0"/>
              <a:t>)</a:t>
            </a:r>
            <a:endParaRPr lang="en-US" dirty="0"/>
          </a:p>
        </p:txBody>
      </p:sp>
      <p:sp>
        <p:nvSpPr>
          <p:cNvPr id="3" name="Content Placeholder 2"/>
          <p:cNvSpPr>
            <a:spLocks noGrp="1"/>
          </p:cNvSpPr>
          <p:nvPr>
            <p:ph idx="1"/>
          </p:nvPr>
        </p:nvSpPr>
        <p:spPr/>
        <p:txBody>
          <a:bodyPr/>
          <a:lstStyle/>
          <a:p>
            <a:r>
              <a:rPr lang="es-ES" dirty="0"/>
              <a:t>Los datos de este tipo sólo pueden contener dos valores: true (verdadero) ó false (falso).</a:t>
            </a:r>
          </a:p>
          <a:p>
            <a:endParaRPr lang="es-MX" dirty="0"/>
          </a:p>
          <a:p>
            <a:pPr lvl="1"/>
            <a:r>
              <a:rPr lang="es-MX" dirty="0"/>
              <a:t>Booleano (</a:t>
            </a:r>
            <a:r>
              <a:rPr lang="es-MX" dirty="0" err="1"/>
              <a:t>boolean</a:t>
            </a:r>
            <a:r>
              <a:rPr lang="es-MX" dirty="0"/>
              <a:t>) -&gt; TRUE; FALSE;</a:t>
            </a:r>
          </a:p>
          <a:p>
            <a:pPr lvl="2"/>
            <a:r>
              <a:rPr lang="es-MX" dirty="0"/>
              <a:t>Valor por defecto: false</a:t>
            </a:r>
          </a:p>
          <a:p>
            <a:pPr lvl="2"/>
            <a:endParaRPr lang="es-MX" dirty="0"/>
          </a:p>
          <a:p>
            <a:pPr lvl="1">
              <a:buNone/>
            </a:pPr>
            <a:endParaRPr lang="es-MX" dirty="0"/>
          </a:p>
        </p:txBody>
      </p:sp>
      <p:pic>
        <p:nvPicPr>
          <p:cNvPr id="6" name="Imagen 4">
            <a:extLst>
              <a:ext uri="{FF2B5EF4-FFF2-40B4-BE49-F238E27FC236}">
                <a16:creationId xmlns:a16="http://schemas.microsoft.com/office/drawing/2014/main" id="{93AD876C-7001-4948-AA04-28A9C407BC8E}"/>
              </a:ext>
            </a:extLst>
          </p:cNvPr>
          <p:cNvPicPr>
            <a:picLocks noChangeAspect="1"/>
          </p:cNvPicPr>
          <p:nvPr/>
        </p:nvPicPr>
        <p:blipFill>
          <a:blip r:embed="rId2"/>
          <a:stretch>
            <a:fillRect/>
          </a:stretch>
        </p:blipFill>
        <p:spPr>
          <a:xfrm>
            <a:off x="677334" y="5743609"/>
            <a:ext cx="2817029" cy="14085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3CD85-AFE1-4822-89A1-2913185EE8D4}"/>
              </a:ext>
            </a:extLst>
          </p:cNvPr>
          <p:cNvSpPr>
            <a:spLocks noGrp="1"/>
          </p:cNvSpPr>
          <p:nvPr>
            <p:ph type="title"/>
          </p:nvPr>
        </p:nvSpPr>
        <p:spPr>
          <a:xfrm>
            <a:off x="677334" y="609600"/>
            <a:ext cx="8596668" cy="703811"/>
          </a:xfrm>
        </p:spPr>
        <p:txBody>
          <a:bodyPr>
            <a:normAutofit/>
          </a:bodyPr>
          <a:lstStyle/>
          <a:p>
            <a:r>
              <a:rPr lang="en-US" dirty="0"/>
              <a:t>¿</a:t>
            </a:r>
            <a:r>
              <a:rPr lang="en-US" dirty="0" err="1"/>
              <a:t>Qué</a:t>
            </a:r>
            <a:r>
              <a:rPr lang="en-US" dirty="0"/>
              <a:t> es una Variable?</a:t>
            </a:r>
          </a:p>
        </p:txBody>
      </p:sp>
      <p:sp>
        <p:nvSpPr>
          <p:cNvPr id="3" name="Content Placeholder 2">
            <a:extLst>
              <a:ext uri="{FF2B5EF4-FFF2-40B4-BE49-F238E27FC236}">
                <a16:creationId xmlns:a16="http://schemas.microsoft.com/office/drawing/2014/main" id="{BB13726A-3847-4F2E-8048-47A1FC2722E6}"/>
              </a:ext>
            </a:extLst>
          </p:cNvPr>
          <p:cNvSpPr>
            <a:spLocks noGrp="1"/>
          </p:cNvSpPr>
          <p:nvPr>
            <p:ph idx="1"/>
          </p:nvPr>
        </p:nvSpPr>
        <p:spPr>
          <a:xfrm>
            <a:off x="774050" y="1488613"/>
            <a:ext cx="8596668" cy="3880773"/>
          </a:xfrm>
        </p:spPr>
        <p:txBody>
          <a:bodyPr/>
          <a:lstStyle/>
          <a:p>
            <a:r>
              <a:rPr lang="es-ES" dirty="0"/>
              <a:t>Una variable es el nombre dado a una ubicación de memoria. Es la unidad básica de almacenamiento en un programa. El valor almacenado en una variable se puede cambiar durante la ejecución del programa.</a:t>
            </a:r>
          </a:p>
          <a:p>
            <a:pPr lvl="1"/>
            <a:r>
              <a:rPr lang="en-US" altLang="en-US" dirty="0" err="1">
                <a:solidFill>
                  <a:schemeClr val="tx1"/>
                </a:solidFill>
                <a:latin typeface="Arial" panose="020B0604020202020204" pitchFamily="34" charset="0"/>
              </a:rPr>
              <a:t>En</a:t>
            </a:r>
            <a:r>
              <a:rPr lang="en-US" altLang="en-US" dirty="0">
                <a:solidFill>
                  <a:schemeClr val="tx1"/>
                </a:solidFill>
                <a:latin typeface="Arial" panose="020B0604020202020204" pitchFamily="34" charset="0"/>
              </a:rPr>
              <a:t> Java, </a:t>
            </a:r>
            <a:r>
              <a:rPr lang="en-US" altLang="en-US" dirty="0" err="1">
                <a:solidFill>
                  <a:schemeClr val="tx1"/>
                </a:solidFill>
                <a:latin typeface="Arial" panose="020B0604020202020204" pitchFamily="34" charset="0"/>
              </a:rPr>
              <a:t>todas</a:t>
            </a:r>
            <a:r>
              <a:rPr lang="en-US" altLang="en-US" dirty="0">
                <a:solidFill>
                  <a:schemeClr val="tx1"/>
                </a:solidFill>
                <a:latin typeface="Arial" panose="020B0604020202020204" pitchFamily="34" charset="0"/>
              </a:rPr>
              <a:t> las variables </a:t>
            </a:r>
            <a:r>
              <a:rPr lang="en-US" altLang="en-US" dirty="0" err="1">
                <a:solidFill>
                  <a:schemeClr val="tx1"/>
                </a:solidFill>
                <a:latin typeface="Arial" panose="020B0604020202020204" pitchFamily="34" charset="0"/>
              </a:rPr>
              <a:t>deben</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declararse</a:t>
            </a:r>
            <a:r>
              <a:rPr lang="en-US" altLang="en-US" dirty="0">
                <a:solidFill>
                  <a:schemeClr val="tx1"/>
                </a:solidFill>
                <a:latin typeface="Arial" panose="020B0604020202020204" pitchFamily="34" charset="0"/>
              </a:rPr>
              <a:t> antes de que </a:t>
            </a:r>
            <a:r>
              <a:rPr lang="en-US" altLang="en-US" dirty="0" err="1">
                <a:solidFill>
                  <a:schemeClr val="tx1"/>
                </a:solidFill>
                <a:latin typeface="Arial" panose="020B0604020202020204" pitchFamily="34" charset="0"/>
              </a:rPr>
              <a:t>puedan</a:t>
            </a:r>
            <a:r>
              <a:rPr lang="en-US" altLang="en-US" dirty="0">
                <a:solidFill>
                  <a:schemeClr val="tx1"/>
                </a:solidFill>
                <a:latin typeface="Arial" panose="020B0604020202020204" pitchFamily="34" charset="0"/>
              </a:rPr>
              <a:t> ser </a:t>
            </a:r>
            <a:r>
              <a:rPr lang="en-US" altLang="en-US" dirty="0" err="1">
                <a:solidFill>
                  <a:schemeClr val="tx1"/>
                </a:solidFill>
                <a:latin typeface="Arial" panose="020B0604020202020204" pitchFamily="34" charset="0"/>
              </a:rPr>
              <a:t>utilizadas</a:t>
            </a:r>
            <a:r>
              <a:rPr lang="en-US" altLang="en-US" dirty="0">
                <a:solidFill>
                  <a:schemeClr val="tx1"/>
                </a:solidFill>
                <a:latin typeface="Arial" panose="020B0604020202020204" pitchFamily="34" charset="0"/>
              </a:rPr>
              <a:t>.</a:t>
            </a:r>
          </a:p>
          <a:p>
            <a:r>
              <a:rPr lang="es-ES" b="1" dirty="0"/>
              <a:t>tipo de dato</a:t>
            </a:r>
            <a:r>
              <a:rPr lang="es-ES" dirty="0"/>
              <a:t>: tipo de datos que se pueden almacenar en esta variable.</a:t>
            </a:r>
          </a:p>
          <a:p>
            <a:r>
              <a:rPr lang="es-ES" b="1" dirty="0" err="1"/>
              <a:t>nombre_variable</a:t>
            </a:r>
            <a:r>
              <a:rPr lang="es-ES" dirty="0"/>
              <a:t>: nombre dado a la variable.</a:t>
            </a:r>
          </a:p>
          <a:p>
            <a:r>
              <a:rPr lang="es-ES" b="1" dirty="0"/>
              <a:t>valor</a:t>
            </a:r>
            <a:r>
              <a:rPr lang="es-ES" dirty="0"/>
              <a:t>: es el valor inicial almacenado en la variable.</a:t>
            </a:r>
          </a:p>
        </p:txBody>
      </p:sp>
      <p:sp>
        <p:nvSpPr>
          <p:cNvPr id="5" name="Rectangle 2">
            <a:extLst>
              <a:ext uri="{FF2B5EF4-FFF2-40B4-BE49-F238E27FC236}">
                <a16:creationId xmlns:a16="http://schemas.microsoft.com/office/drawing/2014/main" id="{0B1401BA-9CF6-4330-A051-4D28C50C41EE}"/>
              </a:ext>
            </a:extLst>
          </p:cNvPr>
          <p:cNvSpPr>
            <a:spLocks noChangeArrowheads="1"/>
          </p:cNvSpPr>
          <p:nvPr/>
        </p:nvSpPr>
        <p:spPr bwMode="auto">
          <a:xfrm>
            <a:off x="0" y="-330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rgbClr val="FBFCF0"/>
                </a:solidFill>
                <a:effectLst/>
                <a:latin typeface="Helvetica Neue"/>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61B8B8BF-ABB3-49C7-843C-B0885D03740A}"/>
              </a:ext>
            </a:extLst>
          </p:cNvPr>
          <p:cNvPicPr>
            <a:picLocks noChangeAspect="1"/>
          </p:cNvPicPr>
          <p:nvPr/>
        </p:nvPicPr>
        <p:blipFill>
          <a:blip r:embed="rId2"/>
          <a:stretch>
            <a:fillRect/>
          </a:stretch>
        </p:blipFill>
        <p:spPr>
          <a:xfrm>
            <a:off x="474920" y="4162637"/>
            <a:ext cx="11119317" cy="1287716"/>
          </a:xfrm>
          <a:prstGeom prst="rect">
            <a:avLst/>
          </a:prstGeom>
        </p:spPr>
      </p:pic>
    </p:spTree>
    <p:extLst>
      <p:ext uri="{BB962C8B-B14F-4D97-AF65-F5344CB8AC3E}">
        <p14:creationId xmlns:p14="http://schemas.microsoft.com/office/powerpoint/2010/main" val="3035537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8BC5D-438A-4785-BC57-BCD054D467F0}"/>
              </a:ext>
            </a:extLst>
          </p:cNvPr>
          <p:cNvSpPr>
            <a:spLocks noGrp="1"/>
          </p:cNvSpPr>
          <p:nvPr>
            <p:ph type="title"/>
          </p:nvPr>
        </p:nvSpPr>
        <p:spPr/>
        <p:txBody>
          <a:bodyPr/>
          <a:lstStyle/>
          <a:p>
            <a:r>
              <a:rPr lang="es-MX"/>
              <a:t>Declaración de variables</a:t>
            </a:r>
            <a:endParaRPr lang="en-US" dirty="0"/>
          </a:p>
        </p:txBody>
      </p:sp>
      <p:pic>
        <p:nvPicPr>
          <p:cNvPr id="5" name="Picture 4">
            <a:extLst>
              <a:ext uri="{FF2B5EF4-FFF2-40B4-BE49-F238E27FC236}">
                <a16:creationId xmlns:a16="http://schemas.microsoft.com/office/drawing/2014/main" id="{32E0441D-1D5D-4E0C-BA60-5A46A5677DC2}"/>
              </a:ext>
            </a:extLst>
          </p:cNvPr>
          <p:cNvPicPr>
            <a:picLocks noChangeAspect="1"/>
          </p:cNvPicPr>
          <p:nvPr/>
        </p:nvPicPr>
        <p:blipFill>
          <a:blip r:embed="rId2"/>
          <a:stretch>
            <a:fillRect/>
          </a:stretch>
        </p:blipFill>
        <p:spPr>
          <a:xfrm>
            <a:off x="548731" y="1479070"/>
            <a:ext cx="8339741" cy="4769330"/>
          </a:xfrm>
          <a:prstGeom prst="rect">
            <a:avLst/>
          </a:prstGeom>
        </p:spPr>
      </p:pic>
    </p:spTree>
    <p:extLst>
      <p:ext uri="{BB962C8B-B14F-4D97-AF65-F5344CB8AC3E}">
        <p14:creationId xmlns:p14="http://schemas.microsoft.com/office/powerpoint/2010/main" val="1171086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Operadores</a:t>
            </a:r>
            <a:endParaRPr lang="en-US" dirty="0"/>
          </a:p>
        </p:txBody>
      </p:sp>
      <p:sp>
        <p:nvSpPr>
          <p:cNvPr id="3" name="Content Placeholder 2"/>
          <p:cNvSpPr>
            <a:spLocks noGrp="1"/>
          </p:cNvSpPr>
          <p:nvPr>
            <p:ph idx="1"/>
          </p:nvPr>
        </p:nvSpPr>
        <p:spPr/>
        <p:txBody>
          <a:bodyPr/>
          <a:lstStyle/>
          <a:p>
            <a:r>
              <a:rPr lang="es-ES" dirty="0"/>
              <a:t>En definición, un operador es todo signo ya sea por asignación o aritméticos que interactúan con las variables involucradas.</a:t>
            </a:r>
          </a:p>
          <a:p>
            <a:endParaRPr lang="es-MX" dirty="0"/>
          </a:p>
          <a:p>
            <a:pPr lvl="1"/>
            <a:r>
              <a:rPr lang="es-MX" dirty="0"/>
              <a:t>Operadores Aritméticos (+,  -,  *, /, %)</a:t>
            </a:r>
          </a:p>
          <a:p>
            <a:pPr lvl="1"/>
            <a:r>
              <a:rPr lang="es-MX" dirty="0"/>
              <a:t>Operadores Unarios (+, -, ++, --, !)</a:t>
            </a:r>
          </a:p>
          <a:p>
            <a:pPr lvl="1"/>
            <a:r>
              <a:rPr lang="es-MX" dirty="0"/>
              <a:t>Operadores  Relacionales (==, !=, &gt;, &gt;=, &lt;, &lt;=)</a:t>
            </a:r>
          </a:p>
          <a:p>
            <a:pPr lvl="1"/>
            <a:r>
              <a:rPr lang="es-MX" dirty="0"/>
              <a:t>Operadores condicionales o </a:t>
            </a:r>
            <a:r>
              <a:rPr lang="es-MX" dirty="0" err="1"/>
              <a:t>logicos</a:t>
            </a:r>
            <a:r>
              <a:rPr lang="es-MX" dirty="0"/>
              <a:t> (</a:t>
            </a:r>
            <a:r>
              <a:rPr lang="es-MX" dirty="0">
                <a:latin typeface="Amasis MT Pro" panose="020B0604020202020204" pitchFamily="18" charset="0"/>
              </a:rPr>
              <a:t>&amp;&amp;</a:t>
            </a:r>
            <a:r>
              <a:rPr lang="es-MX" dirty="0"/>
              <a:t>, ||) AND OR</a:t>
            </a:r>
          </a:p>
          <a:p>
            <a:pPr lvl="1"/>
            <a:r>
              <a:rPr lang="es-MX" dirty="0"/>
              <a:t>Operadores de Bit (</a:t>
            </a:r>
            <a:r>
              <a:rPr lang="es-MX" dirty="0">
                <a:latin typeface="Amasis MT Pro" panose="020B0604020202020204" pitchFamily="18" charset="0"/>
              </a:rPr>
              <a:t>&amp;</a:t>
            </a:r>
            <a:r>
              <a:rPr lang="es-MX" dirty="0"/>
              <a:t>, </a:t>
            </a:r>
            <a:r>
              <a:rPr lang="en-US" dirty="0"/>
              <a:t>^, |, ~)</a:t>
            </a:r>
            <a:endParaRPr lang="es-MX" dirty="0"/>
          </a:p>
          <a:p>
            <a:pPr lvl="1">
              <a:buNone/>
            </a:pPr>
            <a:endParaRPr lang="es-MX" dirty="0"/>
          </a:p>
        </p:txBody>
      </p:sp>
      <p:pic>
        <p:nvPicPr>
          <p:cNvPr id="6" name="Imagen 4">
            <a:extLst>
              <a:ext uri="{FF2B5EF4-FFF2-40B4-BE49-F238E27FC236}">
                <a16:creationId xmlns:a16="http://schemas.microsoft.com/office/drawing/2014/main" id="{93AD876C-7001-4948-AA04-28A9C407BC8E}"/>
              </a:ext>
            </a:extLst>
          </p:cNvPr>
          <p:cNvPicPr>
            <a:picLocks noChangeAspect="1"/>
          </p:cNvPicPr>
          <p:nvPr/>
        </p:nvPicPr>
        <p:blipFill>
          <a:blip r:embed="rId2"/>
          <a:stretch>
            <a:fillRect/>
          </a:stretch>
        </p:blipFill>
        <p:spPr>
          <a:xfrm>
            <a:off x="677334" y="5743609"/>
            <a:ext cx="2817029" cy="14085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Condicionales</a:t>
            </a:r>
            <a:endParaRPr lang="en-US" dirty="0"/>
          </a:p>
        </p:txBody>
      </p:sp>
      <p:sp>
        <p:nvSpPr>
          <p:cNvPr id="3" name="Content Placeholder 2"/>
          <p:cNvSpPr>
            <a:spLocks noGrp="1"/>
          </p:cNvSpPr>
          <p:nvPr>
            <p:ph idx="1"/>
          </p:nvPr>
        </p:nvSpPr>
        <p:spPr/>
        <p:txBody>
          <a:bodyPr/>
          <a:lstStyle/>
          <a:p>
            <a:r>
              <a:rPr lang="es-ES" dirty="0"/>
              <a:t>El flujo de ejecución en </a:t>
            </a:r>
            <a:r>
              <a:rPr lang="es-ES" b="1" dirty="0"/>
              <a:t>Java</a:t>
            </a:r>
            <a:r>
              <a:rPr lang="es-ES" dirty="0"/>
              <a:t> es lineal por lo que se va ejecutando línea a línea en el orden en el que se va leyendo por lo que las sentencias para controlar el flujo de ejecución son la base ya que permiten ejecutar partes del código en base a condiciones</a:t>
            </a:r>
          </a:p>
          <a:p>
            <a:endParaRPr lang="es-MX" dirty="0"/>
          </a:p>
          <a:p>
            <a:pPr lvl="1"/>
            <a:r>
              <a:rPr lang="es-MX" dirty="0"/>
              <a:t>IF</a:t>
            </a:r>
          </a:p>
          <a:p>
            <a:pPr lvl="1"/>
            <a:r>
              <a:rPr lang="es-MX" dirty="0"/>
              <a:t>IF ELSE</a:t>
            </a:r>
          </a:p>
          <a:p>
            <a:pPr lvl="1"/>
            <a:r>
              <a:rPr lang="es-MX" dirty="0"/>
              <a:t>IF ANIDADOS</a:t>
            </a:r>
          </a:p>
          <a:p>
            <a:pPr lvl="1"/>
            <a:r>
              <a:rPr lang="es-MX" dirty="0"/>
              <a:t>IF ELSE IF</a:t>
            </a:r>
          </a:p>
          <a:p>
            <a:pPr lvl="1"/>
            <a:r>
              <a:rPr lang="es-MX" dirty="0"/>
              <a:t>SWITCH</a:t>
            </a:r>
          </a:p>
          <a:p>
            <a:pPr lvl="1">
              <a:buNone/>
            </a:pPr>
            <a:endParaRPr lang="es-MX" dirty="0"/>
          </a:p>
        </p:txBody>
      </p:sp>
      <p:pic>
        <p:nvPicPr>
          <p:cNvPr id="6" name="Imagen 4">
            <a:extLst>
              <a:ext uri="{FF2B5EF4-FFF2-40B4-BE49-F238E27FC236}">
                <a16:creationId xmlns:a16="http://schemas.microsoft.com/office/drawing/2014/main" id="{93AD876C-7001-4948-AA04-28A9C407BC8E}"/>
              </a:ext>
            </a:extLst>
          </p:cNvPr>
          <p:cNvPicPr>
            <a:picLocks noChangeAspect="1"/>
          </p:cNvPicPr>
          <p:nvPr/>
        </p:nvPicPr>
        <p:blipFill>
          <a:blip r:embed="rId2"/>
          <a:stretch>
            <a:fillRect/>
          </a:stretch>
        </p:blipFill>
        <p:spPr>
          <a:xfrm>
            <a:off x="677334" y="5743609"/>
            <a:ext cx="2817029" cy="14085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Ciclos</a:t>
            </a:r>
            <a:endParaRPr lang="en-US" dirty="0"/>
          </a:p>
        </p:txBody>
      </p:sp>
      <p:sp>
        <p:nvSpPr>
          <p:cNvPr id="3" name="Content Placeholder 2"/>
          <p:cNvSpPr>
            <a:spLocks noGrp="1"/>
          </p:cNvSpPr>
          <p:nvPr>
            <p:ph idx="1"/>
          </p:nvPr>
        </p:nvSpPr>
        <p:spPr/>
        <p:txBody>
          <a:bodyPr/>
          <a:lstStyle/>
          <a:p>
            <a:r>
              <a:rPr lang="es-ES" dirty="0"/>
              <a:t>Los ciclos o también conocidos como bucles, son una estructura de control de total importancia para el proceso de creación de un programa.</a:t>
            </a:r>
          </a:p>
          <a:p>
            <a:endParaRPr lang="es-MX" dirty="0"/>
          </a:p>
          <a:p>
            <a:pPr lvl="1"/>
            <a:r>
              <a:rPr lang="es-MX" dirty="0"/>
              <a:t>WHILE</a:t>
            </a:r>
          </a:p>
          <a:p>
            <a:pPr lvl="1"/>
            <a:r>
              <a:rPr lang="es-MX" dirty="0"/>
              <a:t>DO WHILE</a:t>
            </a:r>
          </a:p>
          <a:p>
            <a:pPr lvl="1"/>
            <a:r>
              <a:rPr lang="es-MX" dirty="0"/>
              <a:t>FOR</a:t>
            </a:r>
          </a:p>
          <a:p>
            <a:pPr lvl="1">
              <a:buNone/>
            </a:pPr>
            <a:endParaRPr lang="es-MX" dirty="0"/>
          </a:p>
        </p:txBody>
      </p:sp>
      <p:pic>
        <p:nvPicPr>
          <p:cNvPr id="6" name="Imagen 4">
            <a:extLst>
              <a:ext uri="{FF2B5EF4-FFF2-40B4-BE49-F238E27FC236}">
                <a16:creationId xmlns:a16="http://schemas.microsoft.com/office/drawing/2014/main" id="{93AD876C-7001-4948-AA04-28A9C407BC8E}"/>
              </a:ext>
            </a:extLst>
          </p:cNvPr>
          <p:cNvPicPr>
            <a:picLocks noChangeAspect="1"/>
          </p:cNvPicPr>
          <p:nvPr/>
        </p:nvPicPr>
        <p:blipFill>
          <a:blip r:embed="rId2"/>
          <a:stretch>
            <a:fillRect/>
          </a:stretch>
        </p:blipFill>
        <p:spPr>
          <a:xfrm>
            <a:off x="677334" y="5743609"/>
            <a:ext cx="2817029" cy="14085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Arreglos/</a:t>
            </a:r>
            <a:r>
              <a:rPr lang="es-MX"/>
              <a:t>Arrays</a:t>
            </a:r>
            <a:endParaRPr lang="en-US" dirty="0"/>
          </a:p>
        </p:txBody>
      </p:sp>
      <p:sp>
        <p:nvSpPr>
          <p:cNvPr id="3" name="Content Placeholder 2"/>
          <p:cNvSpPr>
            <a:spLocks noGrp="1"/>
          </p:cNvSpPr>
          <p:nvPr>
            <p:ph idx="1"/>
          </p:nvPr>
        </p:nvSpPr>
        <p:spPr/>
        <p:txBody>
          <a:bodyPr/>
          <a:lstStyle/>
          <a:p>
            <a:r>
              <a:rPr lang="es-ES" dirty="0"/>
              <a:t>Los arreglos se pueden definir como objetos en los que podemos guardar mas de una variable, es decir, al tener un único arreglo, este puede guardar múltiples variables de acuerdo a su tamaño o capacidad.</a:t>
            </a:r>
          </a:p>
          <a:p>
            <a:endParaRPr lang="es-ES" dirty="0"/>
          </a:p>
          <a:p>
            <a:pPr lvl="1"/>
            <a:r>
              <a:rPr lang="es-ES" dirty="0"/>
              <a:t>Arreglos unidimensionales</a:t>
            </a:r>
          </a:p>
          <a:p>
            <a:pPr lvl="1"/>
            <a:endParaRPr lang="es-ES" dirty="0"/>
          </a:p>
          <a:p>
            <a:pPr lvl="1"/>
            <a:r>
              <a:rPr lang="es-ES" dirty="0"/>
              <a:t>Arreglos Bidimensionales</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Métodos</a:t>
            </a:r>
            <a:endParaRPr lang="en-US" dirty="0"/>
          </a:p>
        </p:txBody>
      </p:sp>
      <p:sp>
        <p:nvSpPr>
          <p:cNvPr id="3" name="Content Placeholder 2"/>
          <p:cNvSpPr>
            <a:spLocks noGrp="1"/>
          </p:cNvSpPr>
          <p:nvPr>
            <p:ph idx="1"/>
          </p:nvPr>
        </p:nvSpPr>
        <p:spPr>
          <a:xfrm>
            <a:off x="677334" y="1488613"/>
            <a:ext cx="8923866" cy="4239327"/>
          </a:xfrm>
        </p:spPr>
        <p:txBody>
          <a:bodyPr>
            <a:normAutofit fontScale="77500" lnSpcReduction="20000"/>
          </a:bodyPr>
          <a:lstStyle/>
          <a:p>
            <a:pPr>
              <a:buNone/>
            </a:pPr>
            <a:endParaRPr lang="es-ES" dirty="0"/>
          </a:p>
          <a:p>
            <a:r>
              <a:rPr lang="es-ES" dirty="0"/>
              <a:t>Un </a:t>
            </a:r>
            <a:r>
              <a:rPr lang="es-ES" b="1" dirty="0"/>
              <a:t>método en Java</a:t>
            </a:r>
            <a:r>
              <a:rPr lang="es-ES" dirty="0"/>
              <a:t> es un conjunto de instrucciones definidas dentro de una clase, que realizan una determinada tarea y a las que podemos invocar mediante un nombre.</a:t>
            </a:r>
          </a:p>
          <a:p>
            <a:r>
              <a:rPr lang="es-ES" dirty="0"/>
              <a:t>Características de un método:</a:t>
            </a:r>
          </a:p>
          <a:p>
            <a:endParaRPr lang="es-ES" dirty="0"/>
          </a:p>
          <a:p>
            <a:pPr lvl="1"/>
            <a:r>
              <a:rPr lang="es-ES" dirty="0">
                <a:solidFill>
                  <a:srgbClr val="0070C0"/>
                </a:solidFill>
              </a:rPr>
              <a:t>En Java un método siempre pertenece a una clase. No podemos escribir métodos fuera de una clase.</a:t>
            </a:r>
          </a:p>
          <a:p>
            <a:pPr lvl="1"/>
            <a:r>
              <a:rPr lang="es-ES" dirty="0">
                <a:solidFill>
                  <a:srgbClr val="0070C0"/>
                </a:solidFill>
              </a:rPr>
              <a:t>No podemos escribir métodos dentro de otros métodos.</a:t>
            </a:r>
          </a:p>
          <a:p>
            <a:pPr lvl="1"/>
            <a:r>
              <a:rPr lang="es-ES" dirty="0">
                <a:solidFill>
                  <a:srgbClr val="0070C0"/>
                </a:solidFill>
              </a:rPr>
              <a:t>Todo programa java tiene un método llamado </a:t>
            </a:r>
            <a:r>
              <a:rPr lang="es-ES" dirty="0" err="1">
                <a:solidFill>
                  <a:srgbClr val="0070C0"/>
                </a:solidFill>
              </a:rPr>
              <a:t>main</a:t>
            </a:r>
            <a:r>
              <a:rPr lang="es-ES" dirty="0">
                <a:solidFill>
                  <a:srgbClr val="0070C0"/>
                </a:solidFill>
              </a:rPr>
              <a:t>. La ejecución del programa empieza en este método. El método </a:t>
            </a:r>
            <a:r>
              <a:rPr lang="es-ES" dirty="0" err="1">
                <a:solidFill>
                  <a:srgbClr val="0070C0"/>
                </a:solidFill>
              </a:rPr>
              <a:t>main</a:t>
            </a:r>
            <a:r>
              <a:rPr lang="es-ES" dirty="0">
                <a:solidFill>
                  <a:srgbClr val="0070C0"/>
                </a:solidFill>
              </a:rPr>
              <a:t> es el punto de entrada al programa y también el punto de salida.</a:t>
            </a:r>
          </a:p>
          <a:p>
            <a:pPr lvl="1"/>
            <a:r>
              <a:rPr lang="es-ES" dirty="0">
                <a:solidFill>
                  <a:srgbClr val="0070C0"/>
                </a:solidFill>
              </a:rPr>
              <a:t>Un método tiene un único punto de inicio, representando por la llave de inicio {</a:t>
            </a:r>
          </a:p>
          <a:p>
            <a:pPr lvl="1"/>
            <a:r>
              <a:rPr lang="es-ES" dirty="0">
                <a:solidFill>
                  <a:srgbClr val="0070C0"/>
                </a:solidFill>
              </a:rPr>
              <a:t>La ejecución de un método termina cuando se llega a la llave final } o cuando se ejecuta una instrucción </a:t>
            </a:r>
            <a:r>
              <a:rPr lang="es-ES" dirty="0" err="1">
                <a:solidFill>
                  <a:srgbClr val="0070C0"/>
                </a:solidFill>
              </a:rPr>
              <a:t>return</a:t>
            </a:r>
            <a:r>
              <a:rPr lang="es-ES" dirty="0">
                <a:solidFill>
                  <a:srgbClr val="0070C0"/>
                </a:solidFill>
              </a:rPr>
              <a:t>.</a:t>
            </a:r>
          </a:p>
          <a:p>
            <a:pPr lvl="1"/>
            <a:r>
              <a:rPr lang="es-ES" dirty="0">
                <a:solidFill>
                  <a:srgbClr val="0070C0"/>
                </a:solidFill>
              </a:rPr>
              <a:t>La instrucción </a:t>
            </a:r>
            <a:r>
              <a:rPr lang="es-ES" dirty="0" err="1">
                <a:solidFill>
                  <a:srgbClr val="0070C0"/>
                </a:solidFill>
              </a:rPr>
              <a:t>return</a:t>
            </a:r>
            <a:r>
              <a:rPr lang="es-ES" dirty="0">
                <a:solidFill>
                  <a:srgbClr val="0070C0"/>
                </a:solidFill>
              </a:rPr>
              <a:t> puede aparecer en cualquier lugar dentro del método, no tiene que estar necesariamente al final. </a:t>
            </a:r>
          </a:p>
          <a:p>
            <a:pPr lvl="1"/>
            <a:r>
              <a:rPr lang="es-ES" dirty="0">
                <a:solidFill>
                  <a:srgbClr val="0070C0"/>
                </a:solidFill>
              </a:rPr>
              <a:t>Cuando un método finaliza, la ejecución del programa continúa a partir del punto donde se produjo la llamada al método. </a:t>
            </a:r>
          </a:p>
          <a:p>
            <a:pPr lvl="1"/>
            <a:r>
              <a:rPr lang="es-ES" dirty="0">
                <a:solidFill>
                  <a:srgbClr val="0070C0"/>
                </a:solidFill>
              </a:rPr>
              <a:t>Desde dentro de un método se puede a su vez invocar a otro método.</a:t>
            </a:r>
            <a:endParaRPr lang="en-US" dirty="0">
              <a:solidFill>
                <a:srgbClr val="0070C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0F3E2B-710E-43DE-9145-CC4C7398E2A3}"/>
              </a:ext>
            </a:extLst>
          </p:cNvPr>
          <p:cNvSpPr>
            <a:spLocks noGrp="1"/>
          </p:cNvSpPr>
          <p:nvPr>
            <p:ph type="title"/>
          </p:nvPr>
        </p:nvSpPr>
        <p:spPr/>
        <p:txBody>
          <a:bodyPr/>
          <a:lstStyle/>
          <a:p>
            <a:r>
              <a:rPr lang="es-MX" dirty="0"/>
              <a:t>Clases y Objetos</a:t>
            </a:r>
          </a:p>
        </p:txBody>
      </p:sp>
      <p:sp>
        <p:nvSpPr>
          <p:cNvPr id="14" name="Marcador de contenido 2">
            <a:extLst>
              <a:ext uri="{FF2B5EF4-FFF2-40B4-BE49-F238E27FC236}">
                <a16:creationId xmlns:a16="http://schemas.microsoft.com/office/drawing/2014/main" id="{E35C688F-1B7C-4E4E-9DBC-DAD4CDF75A02}"/>
              </a:ext>
            </a:extLst>
          </p:cNvPr>
          <p:cNvSpPr>
            <a:spLocks noGrp="1"/>
          </p:cNvSpPr>
          <p:nvPr>
            <p:ph idx="1"/>
          </p:nvPr>
        </p:nvSpPr>
        <p:spPr>
          <a:xfrm>
            <a:off x="677333" y="1639330"/>
            <a:ext cx="9031931" cy="4714376"/>
          </a:xfrm>
        </p:spPr>
        <p:txBody>
          <a:bodyPr>
            <a:normAutofit/>
          </a:bodyPr>
          <a:lstStyle/>
          <a:p>
            <a:pPr lvl="1"/>
            <a:r>
              <a:rPr lang="es-MX" dirty="0"/>
              <a:t>Una Clase es un grupo de objetos que tiene propiedades comunes, </a:t>
            </a:r>
            <a:r>
              <a:rPr lang="es-MX" dirty="0">
                <a:sym typeface="Wingdings" panose="05000000000000000000" pitchFamily="2" charset="2"/>
              </a:rPr>
              <a:t>En otras palabras una clase es la representación en general de algo.</a:t>
            </a:r>
            <a:endParaRPr lang="es-MX" dirty="0"/>
          </a:p>
          <a:p>
            <a:pPr lvl="1"/>
            <a:r>
              <a:rPr lang="es-MX" dirty="0"/>
              <a:t>Un Objeto es una entidad que tiene un estado y comportamiento conocido, es una instancia de una clase en otras palabras es una representación particular de algo.</a:t>
            </a:r>
          </a:p>
          <a:p>
            <a:pPr marL="457200" lvl="1" indent="0">
              <a:buNone/>
            </a:pPr>
            <a:r>
              <a:rPr lang="es-MX" dirty="0"/>
              <a:t>Ejemplos:</a:t>
            </a:r>
          </a:p>
          <a:p>
            <a:pPr marL="800100" lvl="1" indent="-342900">
              <a:buFont typeface="+mj-lt"/>
              <a:buAutoNum type="arabicPeriod"/>
            </a:pPr>
            <a:r>
              <a:rPr lang="es-MX" dirty="0"/>
              <a:t> Clase carro </a:t>
            </a:r>
            <a:r>
              <a:rPr lang="es-MX" dirty="0">
                <a:sym typeface="Wingdings" panose="05000000000000000000" pitchFamily="2" charset="2"/>
              </a:rPr>
              <a:t> Objetos serian, llantas, Ventanas, Puertas, Marca, modelo etc. </a:t>
            </a:r>
          </a:p>
          <a:p>
            <a:pPr marL="800100" lvl="1" indent="-342900">
              <a:buFont typeface="+mj-lt"/>
              <a:buAutoNum type="arabicPeriod"/>
            </a:pPr>
            <a:r>
              <a:rPr lang="es-MX" dirty="0">
                <a:sym typeface="Wingdings" panose="05000000000000000000" pitchFamily="2" charset="2"/>
              </a:rPr>
              <a:t>Clase Alimento  Objectos serian, Pizza, Carne asada, pozole etc.</a:t>
            </a:r>
          </a:p>
          <a:p>
            <a:pPr marL="800100" lvl="1" indent="-342900">
              <a:buFont typeface="+mj-lt"/>
              <a:buAutoNum type="arabicPeriod"/>
            </a:pPr>
            <a:endParaRPr lang="es-MX" dirty="0">
              <a:sym typeface="Wingdings" panose="05000000000000000000" pitchFamily="2" charset="2"/>
            </a:endParaRPr>
          </a:p>
          <a:p>
            <a:pPr marL="457200" lvl="1" indent="0">
              <a:buNone/>
            </a:pPr>
            <a:r>
              <a:rPr lang="es-MX" dirty="0">
                <a:sym typeface="Wingdings" panose="05000000000000000000" pitchFamily="2" charset="2"/>
              </a:rPr>
              <a:t>	</a:t>
            </a:r>
          </a:p>
          <a:p>
            <a:pPr marL="457200" lvl="1" indent="0">
              <a:buNone/>
            </a:pPr>
            <a:endParaRPr lang="es-MX" dirty="0">
              <a:sym typeface="Wingdings" panose="05000000000000000000" pitchFamily="2" charset="2"/>
            </a:endParaRPr>
          </a:p>
          <a:p>
            <a:pPr marL="800100" lvl="1" indent="-342900">
              <a:buFont typeface="+mj-lt"/>
              <a:buAutoNum type="arabicPeriod"/>
            </a:pPr>
            <a:endParaRPr lang="es-MX" dirty="0"/>
          </a:p>
        </p:txBody>
      </p:sp>
      <p:graphicFrame>
        <p:nvGraphicFramePr>
          <p:cNvPr id="7" name="Tabla 6">
            <a:extLst>
              <a:ext uri="{FF2B5EF4-FFF2-40B4-BE49-F238E27FC236}">
                <a16:creationId xmlns:a16="http://schemas.microsoft.com/office/drawing/2014/main" id="{B25DD54D-6F82-4165-81C6-C3022FBCF5B9}"/>
              </a:ext>
            </a:extLst>
          </p:cNvPr>
          <p:cNvGraphicFramePr>
            <a:graphicFrameLocks noGrp="1"/>
          </p:cNvGraphicFramePr>
          <p:nvPr>
            <p:extLst>
              <p:ext uri="{D42A27DB-BD31-4B8C-83A1-F6EECF244321}">
                <p14:modId xmlns:p14="http://schemas.microsoft.com/office/powerpoint/2010/main" val="209160537"/>
              </p:ext>
            </p:extLst>
          </p:nvPr>
        </p:nvGraphicFramePr>
        <p:xfrm>
          <a:off x="2314445" y="4245429"/>
          <a:ext cx="6045784" cy="1399805"/>
        </p:xfrm>
        <a:graphic>
          <a:graphicData uri="http://schemas.openxmlformats.org/drawingml/2006/table">
            <a:tbl>
              <a:tblPr firstRow="1" firstCol="1" bandRow="1">
                <a:tableStyleId>{5C22544A-7EE6-4342-B048-85BDC9FD1C3A}</a:tableStyleId>
              </a:tblPr>
              <a:tblGrid>
                <a:gridCol w="3022892">
                  <a:extLst>
                    <a:ext uri="{9D8B030D-6E8A-4147-A177-3AD203B41FA5}">
                      <a16:colId xmlns:a16="http://schemas.microsoft.com/office/drawing/2014/main" val="2892290441"/>
                    </a:ext>
                  </a:extLst>
                </a:gridCol>
                <a:gridCol w="3022892">
                  <a:extLst>
                    <a:ext uri="{9D8B030D-6E8A-4147-A177-3AD203B41FA5}">
                      <a16:colId xmlns:a16="http://schemas.microsoft.com/office/drawing/2014/main" val="216913736"/>
                    </a:ext>
                  </a:extLst>
                </a:gridCol>
              </a:tblGrid>
              <a:tr h="227330">
                <a:tc>
                  <a:txBody>
                    <a:bodyPr/>
                    <a:lstStyle/>
                    <a:p>
                      <a:pPr algn="l">
                        <a:lnSpc>
                          <a:spcPct val="107000"/>
                        </a:lnSpc>
                        <a:spcAft>
                          <a:spcPts val="0"/>
                        </a:spcAft>
                      </a:pPr>
                      <a:r>
                        <a:rPr lang="es-MX" sz="1100" dirty="0">
                          <a:effectLst/>
                        </a:rPr>
                        <a:t>General</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100">
                          <a:effectLst/>
                        </a:rPr>
                        <a:t>Equivalente Java</a:t>
                      </a:r>
                      <a:endParaRPr lang="es-MX"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842484569"/>
                  </a:ext>
                </a:extLst>
              </a:tr>
              <a:tr h="705873">
                <a:tc>
                  <a:txBody>
                    <a:bodyPr/>
                    <a:lstStyle/>
                    <a:p>
                      <a:pPr algn="l">
                        <a:lnSpc>
                          <a:spcPct val="107000"/>
                        </a:lnSpc>
                        <a:spcAft>
                          <a:spcPts val="0"/>
                        </a:spcAft>
                      </a:pPr>
                      <a:r>
                        <a:rPr lang="es-MX" sz="1100" dirty="0">
                          <a:effectLst/>
                        </a:rPr>
                        <a:t>Mercedes es un carro</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100" dirty="0">
                          <a:effectLst/>
                        </a:rPr>
                        <a:t>Mercedes es un objeto de la clase carro / Mercedes es una instancia de la clase carro</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17218137"/>
                  </a:ext>
                </a:extLst>
              </a:tr>
              <a:tr h="466602">
                <a:tc>
                  <a:txBody>
                    <a:bodyPr/>
                    <a:lstStyle/>
                    <a:p>
                      <a:pPr algn="l">
                        <a:lnSpc>
                          <a:spcPct val="107000"/>
                        </a:lnSpc>
                        <a:spcAft>
                          <a:spcPts val="0"/>
                        </a:spcAft>
                      </a:pPr>
                      <a:r>
                        <a:rPr lang="es-MX" sz="1100" dirty="0">
                          <a:effectLst/>
                        </a:rPr>
                        <a:t>Pizza es comida</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100" dirty="0">
                          <a:effectLst/>
                        </a:rPr>
                        <a:t>Pizza es un objeto de la clase comida / Pizza es una instancia de la clase comida</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77004345"/>
                  </a:ext>
                </a:extLst>
              </a:tr>
            </a:tbl>
          </a:graphicData>
        </a:graphic>
      </p:graphicFrame>
      <p:pic>
        <p:nvPicPr>
          <p:cNvPr id="5" name="Imagen 4">
            <a:extLst>
              <a:ext uri="{FF2B5EF4-FFF2-40B4-BE49-F238E27FC236}">
                <a16:creationId xmlns:a16="http://schemas.microsoft.com/office/drawing/2014/main" id="{93AD876C-7001-4948-AA04-28A9C407BC8E}"/>
              </a:ext>
            </a:extLst>
          </p:cNvPr>
          <p:cNvPicPr>
            <a:picLocks noChangeAspect="1"/>
          </p:cNvPicPr>
          <p:nvPr/>
        </p:nvPicPr>
        <p:blipFill>
          <a:blip r:embed="rId2"/>
          <a:stretch>
            <a:fillRect/>
          </a:stretch>
        </p:blipFill>
        <p:spPr>
          <a:xfrm>
            <a:off x="505420" y="5882872"/>
            <a:ext cx="2817029" cy="1408515"/>
          </a:xfrm>
          <a:prstGeom prst="rect">
            <a:avLst/>
          </a:prstGeom>
        </p:spPr>
      </p:pic>
    </p:spTree>
    <p:extLst>
      <p:ext uri="{BB962C8B-B14F-4D97-AF65-F5344CB8AC3E}">
        <p14:creationId xmlns:p14="http://schemas.microsoft.com/office/powerpoint/2010/main" val="1627751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0F3E2B-710E-43DE-9145-CC4C7398E2A3}"/>
              </a:ext>
            </a:extLst>
          </p:cNvPr>
          <p:cNvSpPr>
            <a:spLocks noGrp="1"/>
          </p:cNvSpPr>
          <p:nvPr>
            <p:ph type="title"/>
          </p:nvPr>
        </p:nvSpPr>
        <p:spPr/>
        <p:txBody>
          <a:bodyPr/>
          <a:lstStyle/>
          <a:p>
            <a:r>
              <a:rPr lang="es-MX" dirty="0"/>
              <a:t>Constructores</a:t>
            </a:r>
          </a:p>
        </p:txBody>
      </p:sp>
      <p:sp>
        <p:nvSpPr>
          <p:cNvPr id="14" name="Marcador de contenido 2">
            <a:extLst>
              <a:ext uri="{FF2B5EF4-FFF2-40B4-BE49-F238E27FC236}">
                <a16:creationId xmlns:a16="http://schemas.microsoft.com/office/drawing/2014/main" id="{E35C688F-1B7C-4E4E-9DBC-DAD4CDF75A02}"/>
              </a:ext>
            </a:extLst>
          </p:cNvPr>
          <p:cNvSpPr>
            <a:spLocks noGrp="1"/>
          </p:cNvSpPr>
          <p:nvPr>
            <p:ph idx="1"/>
          </p:nvPr>
        </p:nvSpPr>
        <p:spPr>
          <a:xfrm>
            <a:off x="677333" y="1395479"/>
            <a:ext cx="9031931" cy="4714376"/>
          </a:xfrm>
        </p:spPr>
        <p:txBody>
          <a:bodyPr>
            <a:normAutofit fontScale="85000" lnSpcReduction="20000"/>
          </a:bodyPr>
          <a:lstStyle/>
          <a:p>
            <a:endParaRPr lang="es-ES" dirty="0"/>
          </a:p>
          <a:p>
            <a:r>
              <a:rPr lang="es-ES" dirty="0"/>
              <a:t>Un </a:t>
            </a:r>
            <a:r>
              <a:rPr lang="es-ES" b="1" dirty="0"/>
              <a:t>constructor</a:t>
            </a:r>
            <a:r>
              <a:rPr lang="es-ES" dirty="0"/>
              <a:t> es un método especial de una clase que se llama automáticamente siempre que se declara un objeto de esa clase. Su función es inicializar el objeto y sirve para asegurarnos que los objetos siempre contengan valores válidos.</a:t>
            </a:r>
            <a:r>
              <a:rPr lang="es-MX" dirty="0"/>
              <a:t>Los paquetes nos ayudan a agrupar clases similares.</a:t>
            </a:r>
          </a:p>
          <a:p>
            <a:endParaRPr lang="es-MX" dirty="0"/>
          </a:p>
          <a:p>
            <a:r>
              <a:rPr lang="es-MX" b="1" dirty="0"/>
              <a:t>Características:</a:t>
            </a:r>
          </a:p>
          <a:p>
            <a:pPr lvl="1"/>
            <a:r>
              <a:rPr lang="es-ES" dirty="0"/>
              <a:t>Tiene el mismo nombre que la clase a la que pertenece.</a:t>
            </a:r>
          </a:p>
          <a:p>
            <a:pPr lvl="1"/>
            <a:r>
              <a:rPr lang="es-ES" dirty="0"/>
              <a:t>En una clase puede haber varios constructores con el mismo nombre y distinto número de argumentos (se puede sobrecargar)</a:t>
            </a:r>
          </a:p>
          <a:p>
            <a:pPr lvl="1"/>
            <a:r>
              <a:rPr lang="en-US" dirty="0"/>
              <a:t>No se </a:t>
            </a:r>
            <a:r>
              <a:rPr lang="en-US" dirty="0" err="1"/>
              <a:t>hereda</a:t>
            </a:r>
            <a:r>
              <a:rPr lang="en-US" dirty="0"/>
              <a:t>.</a:t>
            </a:r>
          </a:p>
          <a:p>
            <a:pPr lvl="1"/>
            <a:r>
              <a:rPr lang="es-ES" dirty="0"/>
              <a:t>No puede devolver ningún valor (incluyendo </a:t>
            </a:r>
            <a:r>
              <a:rPr lang="es-ES" dirty="0" err="1"/>
              <a:t>void</a:t>
            </a:r>
            <a:r>
              <a:rPr lang="es-ES" dirty="0"/>
              <a:t>).</a:t>
            </a:r>
            <a:endParaRPr lang="es-MX" dirty="0"/>
          </a:p>
          <a:p>
            <a:endParaRPr lang="es-MX" dirty="0"/>
          </a:p>
          <a:p>
            <a:endParaRPr lang="es-MX" dirty="0"/>
          </a:p>
          <a:p>
            <a:pPr marL="457200" lvl="1" indent="0">
              <a:buNone/>
            </a:pPr>
            <a:endParaRPr lang="es-MX" dirty="0">
              <a:sym typeface="Wingdings" panose="05000000000000000000" pitchFamily="2" charset="2"/>
            </a:endParaRPr>
          </a:p>
          <a:p>
            <a:pPr marL="800100" lvl="1" indent="-342900">
              <a:buFont typeface="+mj-lt"/>
              <a:buAutoNum type="arabicPeriod"/>
            </a:pPr>
            <a:endParaRPr lang="es-MX" dirty="0">
              <a:sym typeface="Wingdings" panose="05000000000000000000" pitchFamily="2" charset="2"/>
            </a:endParaRPr>
          </a:p>
          <a:p>
            <a:pPr marL="457200" lvl="1" indent="0">
              <a:buNone/>
            </a:pPr>
            <a:r>
              <a:rPr lang="es-MX" dirty="0">
                <a:sym typeface="Wingdings" panose="05000000000000000000" pitchFamily="2" charset="2"/>
              </a:rPr>
              <a:t>	</a:t>
            </a:r>
          </a:p>
          <a:p>
            <a:pPr marL="457200" lvl="1" indent="0">
              <a:buNone/>
            </a:pPr>
            <a:endParaRPr lang="es-MX" dirty="0">
              <a:sym typeface="Wingdings" panose="05000000000000000000" pitchFamily="2" charset="2"/>
            </a:endParaRPr>
          </a:p>
          <a:p>
            <a:pPr marL="800100" lvl="1" indent="-342900">
              <a:buFont typeface="+mj-lt"/>
              <a:buAutoNum type="arabicPeriod"/>
            </a:pPr>
            <a:endParaRPr lang="es-MX" dirty="0"/>
          </a:p>
        </p:txBody>
      </p:sp>
      <p:pic>
        <p:nvPicPr>
          <p:cNvPr id="6" name="Imagen 5">
            <a:extLst>
              <a:ext uri="{FF2B5EF4-FFF2-40B4-BE49-F238E27FC236}">
                <a16:creationId xmlns:a16="http://schemas.microsoft.com/office/drawing/2014/main" id="{05E819EA-A1AF-4B46-9076-33764168736B}"/>
              </a:ext>
            </a:extLst>
          </p:cNvPr>
          <p:cNvPicPr>
            <a:picLocks noChangeAspect="1"/>
          </p:cNvPicPr>
          <p:nvPr/>
        </p:nvPicPr>
        <p:blipFill>
          <a:blip r:embed="rId2"/>
          <a:stretch>
            <a:fillRect/>
          </a:stretch>
        </p:blipFill>
        <p:spPr>
          <a:xfrm>
            <a:off x="505420" y="5882872"/>
            <a:ext cx="2817029" cy="1408515"/>
          </a:xfrm>
          <a:prstGeom prst="rect">
            <a:avLst/>
          </a:prstGeom>
        </p:spPr>
      </p:pic>
      <p:pic>
        <p:nvPicPr>
          <p:cNvPr id="1026" name="Picture 2" descr="Programación 3: Clases y objetos en Java"/>
          <p:cNvPicPr>
            <a:picLocks noChangeAspect="1" noChangeArrowheads="1"/>
          </p:cNvPicPr>
          <p:nvPr/>
        </p:nvPicPr>
        <p:blipFill>
          <a:blip r:embed="rId3"/>
          <a:srcRect l="68744" t="63066" r="1840" b="4893"/>
          <a:stretch>
            <a:fillRect/>
          </a:stretch>
        </p:blipFill>
        <p:spPr bwMode="auto">
          <a:xfrm>
            <a:off x="6236043" y="3986094"/>
            <a:ext cx="2716683" cy="1665064"/>
          </a:xfrm>
          <a:prstGeom prst="rect">
            <a:avLst/>
          </a:prstGeom>
          <a:noFill/>
        </p:spPr>
      </p:pic>
    </p:spTree>
    <p:extLst>
      <p:ext uri="{BB962C8B-B14F-4D97-AF65-F5344CB8AC3E}">
        <p14:creationId xmlns:p14="http://schemas.microsoft.com/office/powerpoint/2010/main" val="2248497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Sobrecarga de métodos (</a:t>
            </a:r>
            <a:r>
              <a:rPr lang="es-MX" i="1" dirty="0" err="1"/>
              <a:t>Overloading</a:t>
            </a:r>
            <a:r>
              <a:rPr lang="es-MX" dirty="0"/>
              <a:t>)</a:t>
            </a:r>
            <a:endParaRPr lang="en-US" dirty="0"/>
          </a:p>
        </p:txBody>
      </p:sp>
      <p:sp>
        <p:nvSpPr>
          <p:cNvPr id="3" name="Content Placeholder 2"/>
          <p:cNvSpPr>
            <a:spLocks noGrp="1"/>
          </p:cNvSpPr>
          <p:nvPr>
            <p:ph idx="1"/>
          </p:nvPr>
        </p:nvSpPr>
        <p:spPr>
          <a:xfrm>
            <a:off x="677334" y="1930401"/>
            <a:ext cx="9080620" cy="4110962"/>
          </a:xfrm>
        </p:spPr>
        <p:txBody>
          <a:bodyPr/>
          <a:lstStyle/>
          <a:p>
            <a:r>
              <a:rPr lang="es-ES" dirty="0"/>
              <a:t>La </a:t>
            </a:r>
            <a:r>
              <a:rPr lang="es-ES" b="1" dirty="0"/>
              <a:t>sobrecarga de métodos</a:t>
            </a:r>
            <a:r>
              <a:rPr lang="es-ES" dirty="0"/>
              <a:t> es la creación de varios </a:t>
            </a:r>
            <a:r>
              <a:rPr lang="es-ES" b="1" dirty="0"/>
              <a:t>métodos</a:t>
            </a:r>
            <a:r>
              <a:rPr lang="es-ES" dirty="0"/>
              <a:t> con el mismo nombre pero con diferente lista de tipos de parámetros. </a:t>
            </a:r>
            <a:r>
              <a:rPr lang="es-ES" b="1" dirty="0"/>
              <a:t>Java</a:t>
            </a:r>
            <a:r>
              <a:rPr lang="es-ES" dirty="0"/>
              <a:t> utiliza el número y tipo de parámetros para seleccionar cuál definición de </a:t>
            </a:r>
            <a:r>
              <a:rPr lang="es-ES" b="1" dirty="0"/>
              <a:t>método</a:t>
            </a:r>
            <a:r>
              <a:rPr lang="es-ES" dirty="0"/>
              <a:t> ejecutar.</a:t>
            </a:r>
            <a:endParaRPr lang="en-US" dirty="0"/>
          </a:p>
        </p:txBody>
      </p:sp>
      <p:pic>
        <p:nvPicPr>
          <p:cNvPr id="4" name="Imagen 5">
            <a:extLst>
              <a:ext uri="{FF2B5EF4-FFF2-40B4-BE49-F238E27FC236}">
                <a16:creationId xmlns:a16="http://schemas.microsoft.com/office/drawing/2014/main" id="{05E819EA-A1AF-4B46-9076-33764168736B}"/>
              </a:ext>
            </a:extLst>
          </p:cNvPr>
          <p:cNvPicPr>
            <a:picLocks noChangeAspect="1"/>
          </p:cNvPicPr>
          <p:nvPr/>
        </p:nvPicPr>
        <p:blipFill>
          <a:blip r:embed="rId2"/>
          <a:stretch>
            <a:fillRect/>
          </a:stretch>
        </p:blipFill>
        <p:spPr>
          <a:xfrm>
            <a:off x="505420" y="5882872"/>
            <a:ext cx="2817029" cy="1408515"/>
          </a:xfrm>
          <a:prstGeom prst="rect">
            <a:avLst/>
          </a:prstGeom>
        </p:spPr>
      </p:pic>
      <p:pic>
        <p:nvPicPr>
          <p:cNvPr id="31746" name="Picture 2" descr="🥇▷【 Sobrecargar métodos y constructores - Java Básico 】"/>
          <p:cNvPicPr>
            <a:picLocks noChangeAspect="1" noChangeArrowheads="1"/>
          </p:cNvPicPr>
          <p:nvPr/>
        </p:nvPicPr>
        <p:blipFill>
          <a:blip r:embed="rId3"/>
          <a:srcRect/>
          <a:stretch>
            <a:fillRect/>
          </a:stretch>
        </p:blipFill>
        <p:spPr bwMode="auto">
          <a:xfrm>
            <a:off x="1913934" y="3067717"/>
            <a:ext cx="6059188" cy="3016069"/>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Herencia (</a:t>
            </a:r>
            <a:r>
              <a:rPr lang="en-US" i="1" dirty="0"/>
              <a:t>Inheritance</a:t>
            </a:r>
            <a:r>
              <a:rPr lang="en-US" dirty="0"/>
              <a:t>)</a:t>
            </a:r>
          </a:p>
        </p:txBody>
      </p:sp>
      <p:sp>
        <p:nvSpPr>
          <p:cNvPr id="3" name="Content Placeholder 2"/>
          <p:cNvSpPr>
            <a:spLocks noGrp="1"/>
          </p:cNvSpPr>
          <p:nvPr>
            <p:ph idx="1"/>
          </p:nvPr>
        </p:nvSpPr>
        <p:spPr/>
        <p:txBody>
          <a:bodyPr/>
          <a:lstStyle/>
          <a:p>
            <a:r>
              <a:rPr lang="es-ES" dirty="0"/>
              <a:t>La herencia es un mecanismo que permite la definición de una clase a partir de la definición de otra ya existente. La herencia permite compartir automáticamente métodos y datos entre clases, subclases y objetos.</a:t>
            </a:r>
          </a:p>
          <a:p>
            <a:pPr>
              <a:buNone/>
            </a:pPr>
            <a:endParaRPr lang="es-ES" dirty="0"/>
          </a:p>
          <a:p>
            <a:r>
              <a:rPr lang="es-ES" dirty="0"/>
              <a:t>La herencia está fuertemente ligada a la reutilización del código en la OOP. Esto es, el código de cualquiera de las clases puede ser utilizado sin más que crear una clase derivada de ella, o bien una </a:t>
            </a:r>
            <a:r>
              <a:rPr lang="es-ES" i="1" dirty="0"/>
              <a:t>subclase</a:t>
            </a:r>
            <a:r>
              <a:rPr lang="es-ES" dirty="0"/>
              <a:t>. </a:t>
            </a:r>
            <a:br>
              <a:rPr lang="es-ES" dirty="0"/>
            </a:br>
            <a:br>
              <a:rPr lang="es-ES" dirty="0"/>
            </a:br>
            <a:endParaRPr lang="en-US" dirty="0"/>
          </a:p>
        </p:txBody>
      </p:sp>
      <p:pic>
        <p:nvPicPr>
          <p:cNvPr id="4" name="Imagen 5">
            <a:extLst>
              <a:ext uri="{FF2B5EF4-FFF2-40B4-BE49-F238E27FC236}">
                <a16:creationId xmlns:a16="http://schemas.microsoft.com/office/drawing/2014/main" id="{05E819EA-A1AF-4B46-9076-33764168736B}"/>
              </a:ext>
            </a:extLst>
          </p:cNvPr>
          <p:cNvPicPr>
            <a:picLocks noChangeAspect="1"/>
          </p:cNvPicPr>
          <p:nvPr/>
        </p:nvPicPr>
        <p:blipFill>
          <a:blip r:embed="rId2"/>
          <a:stretch>
            <a:fillRect/>
          </a:stretch>
        </p:blipFill>
        <p:spPr>
          <a:xfrm>
            <a:off x="505420" y="5882872"/>
            <a:ext cx="2817029" cy="140851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Herencia (</a:t>
            </a:r>
            <a:r>
              <a:rPr lang="en-US" i="1" dirty="0"/>
              <a:t>Inheritance</a:t>
            </a:r>
            <a:r>
              <a:rPr lang="en-US" dirty="0"/>
              <a:t>)</a:t>
            </a:r>
          </a:p>
        </p:txBody>
      </p:sp>
      <p:sp>
        <p:nvSpPr>
          <p:cNvPr id="3" name="Content Placeholder 2"/>
          <p:cNvSpPr>
            <a:spLocks noGrp="1"/>
          </p:cNvSpPr>
          <p:nvPr>
            <p:ph idx="1"/>
          </p:nvPr>
        </p:nvSpPr>
        <p:spPr/>
        <p:txBody>
          <a:bodyPr/>
          <a:lstStyle/>
          <a:p>
            <a:r>
              <a:rPr lang="es-ES" dirty="0"/>
              <a:t>Superclase y subclase: cada clase tiene sólo una clase padre. La clase padre de cualquier clase es conocida como su </a:t>
            </a:r>
            <a:r>
              <a:rPr lang="es-ES" i="1" dirty="0"/>
              <a:t>superclase</a:t>
            </a:r>
            <a:r>
              <a:rPr lang="es-ES" dirty="0"/>
              <a:t>. La clase hija de una superclase es llamada una </a:t>
            </a:r>
            <a:r>
              <a:rPr lang="es-ES" i="1" dirty="0"/>
              <a:t>subclase</a:t>
            </a:r>
            <a:r>
              <a:rPr lang="es-ES" dirty="0"/>
              <a:t>. </a:t>
            </a:r>
            <a:br>
              <a:rPr lang="es-ES" dirty="0"/>
            </a:br>
            <a:br>
              <a:rPr lang="es-ES" dirty="0"/>
            </a:br>
            <a:endParaRPr lang="en-US" dirty="0"/>
          </a:p>
        </p:txBody>
      </p:sp>
      <p:pic>
        <p:nvPicPr>
          <p:cNvPr id="4" name="Imagen 5">
            <a:extLst>
              <a:ext uri="{FF2B5EF4-FFF2-40B4-BE49-F238E27FC236}">
                <a16:creationId xmlns:a16="http://schemas.microsoft.com/office/drawing/2014/main" id="{05E819EA-A1AF-4B46-9076-33764168736B}"/>
              </a:ext>
            </a:extLst>
          </p:cNvPr>
          <p:cNvPicPr>
            <a:picLocks noChangeAspect="1"/>
          </p:cNvPicPr>
          <p:nvPr/>
        </p:nvPicPr>
        <p:blipFill>
          <a:blip r:embed="rId2"/>
          <a:stretch>
            <a:fillRect/>
          </a:stretch>
        </p:blipFill>
        <p:spPr>
          <a:xfrm>
            <a:off x="505420" y="5882872"/>
            <a:ext cx="2817029" cy="1408515"/>
          </a:xfrm>
          <a:prstGeom prst="rect">
            <a:avLst/>
          </a:prstGeom>
        </p:spPr>
      </p:pic>
      <p:pic>
        <p:nvPicPr>
          <p:cNvPr id="32770" name="Picture 2"/>
          <p:cNvPicPr>
            <a:picLocks noChangeAspect="1" noChangeArrowheads="1"/>
          </p:cNvPicPr>
          <p:nvPr/>
        </p:nvPicPr>
        <p:blipFill>
          <a:blip r:embed="rId3"/>
          <a:srcRect/>
          <a:stretch>
            <a:fillRect/>
          </a:stretch>
        </p:blipFill>
        <p:spPr bwMode="auto">
          <a:xfrm>
            <a:off x="4846296" y="3083515"/>
            <a:ext cx="5025680" cy="3188035"/>
          </a:xfrm>
          <a:prstGeom prst="rect">
            <a:avLst/>
          </a:prstGeom>
          <a:noFill/>
          <a:ln w="9525">
            <a:noFill/>
            <a:miter lim="800000"/>
            <a:headEnd/>
            <a:tailEnd/>
          </a:ln>
        </p:spPr>
      </p:pic>
      <p:pic>
        <p:nvPicPr>
          <p:cNvPr id="32771" name="Picture 3"/>
          <p:cNvPicPr>
            <a:picLocks noChangeAspect="1" noChangeArrowheads="1"/>
          </p:cNvPicPr>
          <p:nvPr/>
        </p:nvPicPr>
        <p:blipFill>
          <a:blip r:embed="rId4"/>
          <a:srcRect/>
          <a:stretch>
            <a:fillRect/>
          </a:stretch>
        </p:blipFill>
        <p:spPr bwMode="auto">
          <a:xfrm>
            <a:off x="1513292" y="4141573"/>
            <a:ext cx="2619375" cy="9144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Polimorfismo (</a:t>
            </a:r>
            <a:r>
              <a:rPr lang="es-MX" i="1" dirty="0"/>
              <a:t>Polymorphism</a:t>
            </a:r>
            <a:r>
              <a:rPr lang="es-MX" dirty="0"/>
              <a:t>)</a:t>
            </a:r>
            <a:endParaRPr lang="en-US" dirty="0"/>
          </a:p>
        </p:txBody>
      </p:sp>
      <p:sp>
        <p:nvSpPr>
          <p:cNvPr id="3" name="Content Placeholder 2"/>
          <p:cNvSpPr>
            <a:spLocks noGrp="1"/>
          </p:cNvSpPr>
          <p:nvPr>
            <p:ph idx="1"/>
          </p:nvPr>
        </p:nvSpPr>
        <p:spPr/>
        <p:txBody>
          <a:bodyPr/>
          <a:lstStyle/>
          <a:p>
            <a:r>
              <a:rPr lang="es-ES" dirty="0"/>
              <a:t>El </a:t>
            </a:r>
            <a:r>
              <a:rPr lang="es-ES" b="1" dirty="0"/>
              <a:t>polimorfismo</a:t>
            </a:r>
            <a:r>
              <a:rPr lang="es-ES" dirty="0"/>
              <a:t> es una de las características fundamentales de la Programación Orientada a Objetos y está estrechamente relacionado con la herencia y abstracción de </a:t>
            </a:r>
            <a:r>
              <a:rPr lang="es-ES" b="1" dirty="0"/>
              <a:t>Java</a:t>
            </a:r>
            <a:r>
              <a:rPr lang="es-ES" dirty="0"/>
              <a:t>.</a:t>
            </a:r>
          </a:p>
          <a:p>
            <a:endParaRPr lang="es-ES" dirty="0"/>
          </a:p>
          <a:p>
            <a:r>
              <a:rPr lang="es-ES" dirty="0"/>
              <a:t>Se puede definir como la cualidad que tienen los objetos para responder de distinto modo a un mismo mensaje.</a:t>
            </a:r>
            <a:endParaRPr lang="en-US" dirty="0"/>
          </a:p>
        </p:txBody>
      </p:sp>
      <p:pic>
        <p:nvPicPr>
          <p:cNvPr id="4" name="Imagen 5">
            <a:extLst>
              <a:ext uri="{FF2B5EF4-FFF2-40B4-BE49-F238E27FC236}">
                <a16:creationId xmlns:a16="http://schemas.microsoft.com/office/drawing/2014/main" id="{05E819EA-A1AF-4B46-9076-33764168736B}"/>
              </a:ext>
            </a:extLst>
          </p:cNvPr>
          <p:cNvPicPr>
            <a:picLocks noChangeAspect="1"/>
          </p:cNvPicPr>
          <p:nvPr/>
        </p:nvPicPr>
        <p:blipFill>
          <a:blip r:embed="rId2"/>
          <a:stretch>
            <a:fillRect/>
          </a:stretch>
        </p:blipFill>
        <p:spPr>
          <a:xfrm>
            <a:off x="505420" y="5882872"/>
            <a:ext cx="2817029" cy="1408515"/>
          </a:xfrm>
          <a:prstGeom prst="rect">
            <a:avLst/>
          </a:prstGeom>
        </p:spPr>
      </p:pic>
      <p:pic>
        <p:nvPicPr>
          <p:cNvPr id="33794" name="Picture 2" descr="Lesson 9: Polymorphism - C# Station"/>
          <p:cNvPicPr>
            <a:picLocks noChangeAspect="1" noChangeArrowheads="1"/>
          </p:cNvPicPr>
          <p:nvPr/>
        </p:nvPicPr>
        <p:blipFill>
          <a:blip r:embed="rId3"/>
          <a:srcRect/>
          <a:stretch>
            <a:fillRect/>
          </a:stretch>
        </p:blipFill>
        <p:spPr bwMode="auto">
          <a:xfrm>
            <a:off x="3601766" y="4101650"/>
            <a:ext cx="4627543" cy="1939712"/>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Encapsulamiento (</a:t>
            </a:r>
            <a:r>
              <a:rPr lang="en-US" i="1" dirty="0"/>
              <a:t>Encapsulation</a:t>
            </a:r>
            <a:r>
              <a:rPr lang="en-US" dirty="0"/>
              <a:t>)</a:t>
            </a:r>
          </a:p>
        </p:txBody>
      </p:sp>
      <p:sp>
        <p:nvSpPr>
          <p:cNvPr id="3" name="Content Placeholder 2"/>
          <p:cNvSpPr>
            <a:spLocks noGrp="1"/>
          </p:cNvSpPr>
          <p:nvPr>
            <p:ph idx="1"/>
          </p:nvPr>
        </p:nvSpPr>
        <p:spPr/>
        <p:txBody>
          <a:bodyPr/>
          <a:lstStyle/>
          <a:p>
            <a:r>
              <a:rPr lang="es-ES" dirty="0"/>
              <a:t>En </a:t>
            </a:r>
            <a:r>
              <a:rPr lang="es-ES" b="1" i="1" dirty="0"/>
              <a:t>encapsulamiento</a:t>
            </a:r>
            <a:r>
              <a:rPr lang="es-ES" i="1" dirty="0"/>
              <a:t> </a:t>
            </a:r>
            <a:r>
              <a:rPr lang="es-ES" dirty="0"/>
              <a:t>es un principio del lenguaje </a:t>
            </a:r>
            <a:r>
              <a:rPr lang="es-ES" b="1" dirty="0"/>
              <a:t>Java</a:t>
            </a:r>
            <a:r>
              <a:rPr lang="es-ES" dirty="0"/>
              <a:t> cuya filosofía es hacer que los atributos de las clases se puedan editar sólo a través de métodos. De manera general, se hace teniendo las propiedades como privadas y métodos que la controlan públicos. Comúnmente, se crean un grupo de métodos llamados </a:t>
            </a:r>
            <a:r>
              <a:rPr lang="es-ES" dirty="0" err="1"/>
              <a:t>getters</a:t>
            </a:r>
            <a:r>
              <a:rPr lang="es-ES" dirty="0"/>
              <a:t> (se encargan de obtener el valor de la propiedad) y </a:t>
            </a:r>
            <a:r>
              <a:rPr lang="es-ES" dirty="0" err="1"/>
              <a:t>setters</a:t>
            </a:r>
            <a:r>
              <a:rPr lang="es-ES" dirty="0"/>
              <a:t> (se encargan de </a:t>
            </a:r>
            <a:r>
              <a:rPr lang="es-ES" dirty="0" err="1"/>
              <a:t>setearla</a:t>
            </a:r>
            <a:r>
              <a:rPr lang="es-ES" dirty="0"/>
              <a:t>).</a:t>
            </a:r>
            <a:endParaRPr lang="en-US" dirty="0"/>
          </a:p>
        </p:txBody>
      </p:sp>
      <p:pic>
        <p:nvPicPr>
          <p:cNvPr id="4" name="Imagen 5">
            <a:extLst>
              <a:ext uri="{FF2B5EF4-FFF2-40B4-BE49-F238E27FC236}">
                <a16:creationId xmlns:a16="http://schemas.microsoft.com/office/drawing/2014/main" id="{05E819EA-A1AF-4B46-9076-33764168736B}"/>
              </a:ext>
            </a:extLst>
          </p:cNvPr>
          <p:cNvPicPr>
            <a:picLocks noChangeAspect="1"/>
          </p:cNvPicPr>
          <p:nvPr/>
        </p:nvPicPr>
        <p:blipFill>
          <a:blip r:embed="rId2"/>
          <a:stretch>
            <a:fillRect/>
          </a:stretch>
        </p:blipFill>
        <p:spPr>
          <a:xfrm>
            <a:off x="505420" y="5882872"/>
            <a:ext cx="2817029" cy="1408515"/>
          </a:xfrm>
          <a:prstGeom prst="rect">
            <a:avLst/>
          </a:prstGeom>
        </p:spPr>
      </p:pic>
      <p:pic>
        <p:nvPicPr>
          <p:cNvPr id="35842" name="Picture 2"/>
          <p:cNvPicPr>
            <a:picLocks noChangeAspect="1" noChangeArrowheads="1"/>
          </p:cNvPicPr>
          <p:nvPr/>
        </p:nvPicPr>
        <p:blipFill>
          <a:blip r:embed="rId3"/>
          <a:srcRect/>
          <a:stretch>
            <a:fillRect/>
          </a:stretch>
        </p:blipFill>
        <p:spPr bwMode="auto">
          <a:xfrm>
            <a:off x="1142871" y="4206472"/>
            <a:ext cx="5457825" cy="16764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MX" sz="3200" dirty="0"/>
              <a:t>Modificadores de acceso (Access modifiers)</a:t>
            </a:r>
            <a:endParaRPr lang="en-US" sz="3200" dirty="0"/>
          </a:p>
        </p:txBody>
      </p:sp>
      <p:sp>
        <p:nvSpPr>
          <p:cNvPr id="3" name="Content Placeholder 2"/>
          <p:cNvSpPr>
            <a:spLocks noGrp="1"/>
          </p:cNvSpPr>
          <p:nvPr>
            <p:ph idx="1"/>
          </p:nvPr>
        </p:nvSpPr>
        <p:spPr/>
        <p:txBody>
          <a:bodyPr/>
          <a:lstStyle/>
          <a:p>
            <a:r>
              <a:rPr lang="es-ES" dirty="0"/>
              <a:t>El acceso a las propiedades y métodos se determina mediante las palabras reservadas de los modificadores de acceso, en Java hay cuatro modificadores de acceso que definen ámbitos de visibilidad de más restrictivos a menos restrictivos:</a:t>
            </a:r>
          </a:p>
          <a:p>
            <a:r>
              <a:rPr lang="es-ES" b="1" dirty="0" err="1"/>
              <a:t>private</a:t>
            </a:r>
            <a:r>
              <a:rPr lang="es-ES" dirty="0"/>
              <a:t>: únicamente la clase puede acceder a la propiedad o método.</a:t>
            </a:r>
          </a:p>
          <a:p>
            <a:r>
              <a:rPr lang="es-ES" b="1" dirty="0" err="1"/>
              <a:t>package</a:t>
            </a:r>
            <a:r>
              <a:rPr lang="es-ES" b="1" dirty="0"/>
              <a:t> </a:t>
            </a:r>
            <a:r>
              <a:rPr lang="es-ES" b="1" dirty="0" err="1"/>
              <a:t>private</a:t>
            </a:r>
            <a:r>
              <a:rPr lang="es-ES" b="1" dirty="0"/>
              <a:t> (valor por defecto si no se indica ninguno): </a:t>
            </a:r>
            <a:r>
              <a:rPr lang="es-ES" dirty="0"/>
              <a:t>solo las clases en el mismo paquete pueden acceder a la propiedad o método.</a:t>
            </a:r>
          </a:p>
          <a:p>
            <a:r>
              <a:rPr lang="es-ES" b="1" dirty="0" err="1"/>
              <a:t>protected</a:t>
            </a:r>
            <a:r>
              <a:rPr lang="es-ES" b="1" dirty="0"/>
              <a:t>: </a:t>
            </a:r>
            <a:r>
              <a:rPr lang="es-ES" dirty="0"/>
              <a:t>las clases del mismo paquete y que heredan de la clase pueden acceder a la propiedad o método.</a:t>
            </a:r>
          </a:p>
          <a:p>
            <a:r>
              <a:rPr lang="es-ES" b="1" dirty="0" err="1"/>
              <a:t>public</a:t>
            </a:r>
            <a:r>
              <a:rPr lang="es-ES" b="1" dirty="0"/>
              <a:t>: </a:t>
            </a:r>
            <a:r>
              <a:rPr lang="es-ES" dirty="0"/>
              <a:t>la propiedad o método es accesible desde cualquier método de otra clase.</a:t>
            </a:r>
          </a:p>
          <a:p>
            <a:endParaRPr lang="en-US" dirty="0"/>
          </a:p>
        </p:txBody>
      </p:sp>
      <p:pic>
        <p:nvPicPr>
          <p:cNvPr id="4" name="Imagen 5">
            <a:extLst>
              <a:ext uri="{FF2B5EF4-FFF2-40B4-BE49-F238E27FC236}">
                <a16:creationId xmlns:a16="http://schemas.microsoft.com/office/drawing/2014/main" id="{05E819EA-A1AF-4B46-9076-33764168736B}"/>
              </a:ext>
            </a:extLst>
          </p:cNvPr>
          <p:cNvPicPr>
            <a:picLocks noChangeAspect="1"/>
          </p:cNvPicPr>
          <p:nvPr/>
        </p:nvPicPr>
        <p:blipFill>
          <a:blip r:embed="rId2"/>
          <a:stretch>
            <a:fillRect/>
          </a:stretch>
        </p:blipFill>
        <p:spPr>
          <a:xfrm>
            <a:off x="505420" y="5882872"/>
            <a:ext cx="2817029" cy="140851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MX" sz="3200" dirty="0"/>
              <a:t>Modificadores de acceso (Access modifiers)</a:t>
            </a:r>
            <a:endParaRPr lang="en-US" sz="3200" dirty="0"/>
          </a:p>
        </p:txBody>
      </p:sp>
      <p:pic>
        <p:nvPicPr>
          <p:cNvPr id="5" name="Imagen 5">
            <a:extLst>
              <a:ext uri="{FF2B5EF4-FFF2-40B4-BE49-F238E27FC236}">
                <a16:creationId xmlns:a16="http://schemas.microsoft.com/office/drawing/2014/main" id="{05E819EA-A1AF-4B46-9076-33764168736B}"/>
              </a:ext>
            </a:extLst>
          </p:cNvPr>
          <p:cNvPicPr>
            <a:picLocks noChangeAspect="1"/>
          </p:cNvPicPr>
          <p:nvPr/>
        </p:nvPicPr>
        <p:blipFill>
          <a:blip r:embed="rId2"/>
          <a:stretch>
            <a:fillRect/>
          </a:stretch>
        </p:blipFill>
        <p:spPr>
          <a:xfrm>
            <a:off x="505420" y="5882872"/>
            <a:ext cx="2817029" cy="1408515"/>
          </a:xfrm>
          <a:prstGeom prst="rect">
            <a:avLst/>
          </a:prstGeom>
        </p:spPr>
      </p:pic>
      <p:pic>
        <p:nvPicPr>
          <p:cNvPr id="36866" name="Picture 2"/>
          <p:cNvPicPr>
            <a:picLocks noGrp="1" noChangeAspect="1" noChangeArrowheads="1"/>
          </p:cNvPicPr>
          <p:nvPr>
            <p:ph idx="1"/>
          </p:nvPr>
        </p:nvPicPr>
        <p:blipFill>
          <a:blip r:embed="rId3"/>
          <a:srcRect/>
          <a:stretch>
            <a:fillRect/>
          </a:stretch>
        </p:blipFill>
        <p:spPr bwMode="auto">
          <a:xfrm>
            <a:off x="828805" y="2123810"/>
            <a:ext cx="9189965" cy="2610379"/>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Faceta">
  <a:themeElements>
    <a:clrScheme name="Personalizados 2">
      <a:dk1>
        <a:srgbClr val="000000"/>
      </a:dk1>
      <a:lt1>
        <a:srgbClr val="FFFFFF"/>
      </a:lt1>
      <a:dk2>
        <a:srgbClr val="2C3C43"/>
      </a:dk2>
      <a:lt2>
        <a:srgbClr val="EBEBEB"/>
      </a:lt2>
      <a:accent1>
        <a:srgbClr val="5FCD34"/>
      </a:accent1>
      <a:accent2>
        <a:srgbClr val="65DB38"/>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7b7fb8f-3a6f-47e1-a3a4-2411adc349b2">
      <Terms xmlns="http://schemas.microsoft.com/office/infopath/2007/PartnerControls"/>
    </lcf76f155ced4ddcb4097134ff3c332f>
    <TaxCatchAll xmlns="da1f0dfa-79fa-4d36-9dd2-129344bfe11d" xsi:nil="true"/>
    <DateTime xmlns="87b7fb8f-3a6f-47e1-a3a4-2411adc349b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F6804663CB24CB4CB4A1A8AAD1ADEBA4" ma:contentTypeVersion="13" ma:contentTypeDescription="Crear nuevo documento." ma:contentTypeScope="" ma:versionID="d7fb1e9eadd30f634973a53dbc6af754">
  <xsd:schema xmlns:xsd="http://www.w3.org/2001/XMLSchema" xmlns:xs="http://www.w3.org/2001/XMLSchema" xmlns:p="http://schemas.microsoft.com/office/2006/metadata/properties" xmlns:ns2="87b7fb8f-3a6f-47e1-a3a4-2411adc349b2" xmlns:ns3="da1f0dfa-79fa-4d36-9dd2-129344bfe11d" targetNamespace="http://schemas.microsoft.com/office/2006/metadata/properties" ma:root="true" ma:fieldsID="29fd04669b1bc6b4a069244cce6a0c5f" ns2:_="" ns3:_="">
    <xsd:import namespace="87b7fb8f-3a6f-47e1-a3a4-2411adc349b2"/>
    <xsd:import namespace="da1f0dfa-79fa-4d36-9dd2-129344bfe11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DateTime"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b7fb8f-3a6f-47e1-a3a4-2411adc349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DateTime" ma:index="16" nillable="true" ma:displayName="Date &amp; Time" ma:format="DateTime" ma:internalName="DateTime">
      <xsd:simpleType>
        <xsd:restriction base="dms:DateTime"/>
      </xsd:simpleType>
    </xsd:element>
    <xsd:element name="lcf76f155ced4ddcb4097134ff3c332f" ma:index="18" nillable="true" ma:taxonomy="true" ma:internalName="lcf76f155ced4ddcb4097134ff3c332f" ma:taxonomyFieldName="MediaServiceImageTags" ma:displayName="Etiquetas de imagen" ma:readOnly="false" ma:fieldId="{5cf76f15-5ced-4ddc-b409-7134ff3c332f}" ma:taxonomyMulti="true" ma:sspId="96da5474-78bd-4203-935f-893709f0ff98"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a1f0dfa-79fa-4d36-9dd2-129344bfe11d"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e75a5f4a-567c-4ed1-8f14-d4407eb64ccb}" ma:internalName="TaxCatchAll" ma:showField="CatchAllData" ma:web="da1f0dfa-79fa-4d36-9dd2-129344bfe11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BF0B8C7-7E24-455E-929B-CC2108DD40C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9AAD6573-E7C7-411F-90B3-52A6C0D20EB8}">
  <ds:schemaRefs>
    <ds:schemaRef ds:uri="http://schemas.microsoft.com/sharepoint/v3/contenttype/forms"/>
  </ds:schemaRefs>
</ds:datastoreItem>
</file>

<file path=customXml/itemProps3.xml><?xml version="1.0" encoding="utf-8"?>
<ds:datastoreItem xmlns:ds="http://schemas.openxmlformats.org/officeDocument/2006/customXml" ds:itemID="{FB86564A-1CC4-4CB3-9323-20C7D577143E}"/>
</file>

<file path=docProps/app.xml><?xml version="1.0" encoding="utf-8"?>
<Properties xmlns="http://schemas.openxmlformats.org/officeDocument/2006/extended-properties" xmlns:vt="http://schemas.openxmlformats.org/officeDocument/2006/docPropsVTypes">
  <Template>{F7789D84-5A89-864E-BD3F-5DAB56D28719}tf10001060</Template>
  <TotalTime>9724</TotalTime>
  <Words>1498</Words>
  <Application>Microsoft Office PowerPoint</Application>
  <PresentationFormat>Widescreen</PresentationFormat>
  <Paragraphs>144</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Amasis MT Pro</vt:lpstr>
      <vt:lpstr>Arial</vt:lpstr>
      <vt:lpstr>Calibri</vt:lpstr>
      <vt:lpstr>Helvetica Neue</vt:lpstr>
      <vt:lpstr>Trebuchet MS</vt:lpstr>
      <vt:lpstr>Wingdings 3</vt:lpstr>
      <vt:lpstr>Faceta</vt:lpstr>
      <vt:lpstr>Curso de Selenium </vt:lpstr>
      <vt:lpstr>Índice</vt:lpstr>
      <vt:lpstr>Tipos de Datos ( Numéricos Enteros)</vt:lpstr>
      <vt:lpstr>Tipos de Datos ( Numéricos Reales)</vt:lpstr>
      <vt:lpstr>Tipos de Datos ( Carácter y logico)</vt:lpstr>
      <vt:lpstr>Tipos de Datos ( Carácter y logico)</vt:lpstr>
      <vt:lpstr>¿Qué es una Variable?</vt:lpstr>
      <vt:lpstr>Declaración de variables</vt:lpstr>
      <vt:lpstr>Operadores</vt:lpstr>
      <vt:lpstr>Condicionales</vt:lpstr>
      <vt:lpstr>Ciclos</vt:lpstr>
      <vt:lpstr>Arreglos/Arrays</vt:lpstr>
      <vt:lpstr>Métodos</vt:lpstr>
      <vt:lpstr>Clases y Objetos</vt:lpstr>
      <vt:lpstr>Constructores</vt:lpstr>
      <vt:lpstr>Sobrecarga de métodos (Overloading)</vt:lpstr>
      <vt:lpstr>Herencia (Inheritance)</vt:lpstr>
      <vt:lpstr>Herencia (Inheritance)</vt:lpstr>
      <vt:lpstr>Polimorfismo (Polymorphism)</vt:lpstr>
      <vt:lpstr>Encapsulamiento (Encapsulation)</vt:lpstr>
      <vt:lpstr>Modificadores de acceso (Access modifiers)</vt:lpstr>
      <vt:lpstr>Modificadores de acceso (Access modifiers)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de Selenium </dc:title>
  <dc:creator>Miguel Hernandez</dc:creator>
  <cp:lastModifiedBy>Marcial Rivera</cp:lastModifiedBy>
  <cp:revision>131</cp:revision>
  <dcterms:created xsi:type="dcterms:W3CDTF">2020-07-09T00:11:29Z</dcterms:created>
  <dcterms:modified xsi:type="dcterms:W3CDTF">2022-11-04T22:10:16Z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0x010100F6804663CB24CB4CB4A1A8AAD1ADEBA4</vt:lpwstr>
  </property>
</Properties>
</file>